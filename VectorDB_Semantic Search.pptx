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303" r:id="rId3"/>
    <p:sldId id="304" r:id="rId4"/>
    <p:sldId id="305" r:id="rId5"/>
    <p:sldId id="306" r:id="rId6"/>
    <p:sldId id="307" r:id="rId7"/>
    <p:sldId id="308" r:id="rId8"/>
    <p:sldId id="309" r:id="rId9"/>
    <p:sldId id="310" r:id="rId10"/>
    <p:sldId id="311" r:id="rId11"/>
    <p:sldId id="312" r:id="rId12"/>
    <p:sldId id="286" r:id="rId13"/>
    <p:sldId id="287" r:id="rId14"/>
    <p:sldId id="288" r:id="rId15"/>
    <p:sldId id="289" r:id="rId16"/>
    <p:sldId id="290" r:id="rId17"/>
    <p:sldId id="291" r:id="rId18"/>
    <p:sldId id="293" r:id="rId19"/>
    <p:sldId id="294" r:id="rId20"/>
    <p:sldId id="256" r:id="rId21"/>
    <p:sldId id="257" r:id="rId22"/>
    <p:sldId id="258" r:id="rId23"/>
    <p:sldId id="259" r:id="rId24"/>
    <p:sldId id="260" r:id="rId25"/>
    <p:sldId id="261" r:id="rId26"/>
    <p:sldId id="262" r:id="rId27"/>
    <p:sldId id="263" r:id="rId28"/>
    <p:sldId id="264" r:id="rId29"/>
    <p:sldId id="265" r:id="rId30"/>
    <p:sldId id="267" r:id="rId31"/>
    <p:sldId id="268" r:id="rId32"/>
    <p:sldId id="269" r:id="rId33"/>
    <p:sldId id="270" r:id="rId34"/>
    <p:sldId id="271" r:id="rId35"/>
    <p:sldId id="272" r:id="rId36"/>
    <p:sldId id="273" r:id="rId37"/>
    <p:sldId id="274" r:id="rId38"/>
    <p:sldId id="276" r:id="rId39"/>
    <p:sldId id="278" r:id="rId40"/>
    <p:sldId id="313" r:id="rId41"/>
    <p:sldId id="296" r:id="rId42"/>
    <p:sldId id="297" r:id="rId43"/>
    <p:sldId id="298" r:id="rId44"/>
    <p:sldId id="299" r:id="rId45"/>
    <p:sldId id="300" r:id="rId46"/>
    <p:sldId id="301" r:id="rId47"/>
    <p:sldId id="333" r:id="rId48"/>
    <p:sldId id="314" r:id="rId49"/>
    <p:sldId id="315" r:id="rId50"/>
    <p:sldId id="329" r:id="rId51"/>
    <p:sldId id="319" r:id="rId52"/>
    <p:sldId id="316" r:id="rId53"/>
    <p:sldId id="317" r:id="rId54"/>
    <p:sldId id="318" r:id="rId55"/>
    <p:sldId id="320" r:id="rId56"/>
    <p:sldId id="321" r:id="rId57"/>
    <p:sldId id="322" r:id="rId58"/>
    <p:sldId id="323" r:id="rId59"/>
    <p:sldId id="324" r:id="rId60"/>
    <p:sldId id="325" r:id="rId61"/>
    <p:sldId id="326" r:id="rId62"/>
    <p:sldId id="327" r:id="rId63"/>
    <p:sldId id="328" r:id="rId64"/>
    <p:sldId id="330" r:id="rId65"/>
    <p:sldId id="331" r:id="rId66"/>
    <p:sldId id="332"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9" autoAdjust="0"/>
    <p:restoredTop sz="94660"/>
  </p:normalViewPr>
  <p:slideViewPr>
    <p:cSldViewPr snapToGrid="0">
      <p:cViewPr varScale="1">
        <p:scale>
          <a:sx n="152" d="100"/>
          <a:sy n="152" d="100"/>
        </p:scale>
        <p:origin x="566"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9B5BD-81C5-9B8A-F1F6-E91A384C2F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DBC6C50-9515-A768-D602-91B243A0DD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D08D7D1-1017-4CAE-6800-F5A496F4733E}"/>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5" name="Footer Placeholder 4">
            <a:extLst>
              <a:ext uri="{FF2B5EF4-FFF2-40B4-BE49-F238E27FC236}">
                <a16:creationId xmlns:a16="http://schemas.microsoft.com/office/drawing/2014/main" id="{101B563A-AE1C-C915-0685-ECEA7A0649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C242ED-5C6A-7FA3-0864-DCCB13AEA511}"/>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235962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09A58-0FD5-A66E-5353-C1612EADBE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B0E945-6792-5E88-0133-C19CC9EE46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7714B6-333C-460B-61F8-5C474AA8B766}"/>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5" name="Footer Placeholder 4">
            <a:extLst>
              <a:ext uri="{FF2B5EF4-FFF2-40B4-BE49-F238E27FC236}">
                <a16:creationId xmlns:a16="http://schemas.microsoft.com/office/drawing/2014/main" id="{366B0336-15DE-768A-CC0C-EA3DDC7BE3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579DFF-34AF-8420-FA22-1BEB09B59EEB}"/>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1705797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C552F-4CF2-C07C-C18C-45316C4258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EEBA73-EB44-08A0-F44C-A435BF829B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2A13E4-D114-060A-C7D2-FE1BBBCF5B36}"/>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5" name="Footer Placeholder 4">
            <a:extLst>
              <a:ext uri="{FF2B5EF4-FFF2-40B4-BE49-F238E27FC236}">
                <a16:creationId xmlns:a16="http://schemas.microsoft.com/office/drawing/2014/main" id="{98DFA5FA-5B26-FC69-B431-8689CFD8CE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9AF98F-6F36-59D1-32F3-D36E6DC0773C}"/>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1359279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B12E2-1D85-AAD7-0244-4B773B8258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08BD20-8514-E134-5837-3B249B6237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BBCE65B-65F1-3714-1A55-362328B397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43FCDA-3F61-397B-CA7D-54DF52B66113}"/>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6" name="Footer Placeholder 5">
            <a:extLst>
              <a:ext uri="{FF2B5EF4-FFF2-40B4-BE49-F238E27FC236}">
                <a16:creationId xmlns:a16="http://schemas.microsoft.com/office/drawing/2014/main" id="{4604E267-7E96-5FB6-5FF4-4C41919038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BBF2B7-7BDA-8400-B0F7-C00C3C1F17D5}"/>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2398393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D0B4D-600B-37C6-7B22-AE45A8E3ABD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4728E0-DC72-C68A-0315-362CEBF9B5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55330-7B6A-D4BB-F481-4F2C026DCB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5F9991-8326-E9DB-1C75-A8834D120A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C5FD68-4D43-BAAD-125F-82AC700E00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B61E226-B774-2806-28F2-16087945F7B6}"/>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8" name="Footer Placeholder 7">
            <a:extLst>
              <a:ext uri="{FF2B5EF4-FFF2-40B4-BE49-F238E27FC236}">
                <a16:creationId xmlns:a16="http://schemas.microsoft.com/office/drawing/2014/main" id="{5803C6A0-D39E-A1AF-294D-57A13E260C9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8F4A677-EE77-269C-8A6C-A0BD340B0425}"/>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1471128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EB213-C579-3981-0C2C-BAA63F1326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7CC9EC-9C75-1B89-2F9E-933CFB4F1044}"/>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4" name="Footer Placeholder 3">
            <a:extLst>
              <a:ext uri="{FF2B5EF4-FFF2-40B4-BE49-F238E27FC236}">
                <a16:creationId xmlns:a16="http://schemas.microsoft.com/office/drawing/2014/main" id="{4DA98F2C-0213-6430-D1AC-465FD08AAA1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73665D1-18A6-035D-EE9E-B9CEB002CBB9}"/>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2021146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2E7054-7D69-5A67-C36E-238A2C55F4FA}"/>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3" name="Footer Placeholder 2">
            <a:extLst>
              <a:ext uri="{FF2B5EF4-FFF2-40B4-BE49-F238E27FC236}">
                <a16:creationId xmlns:a16="http://schemas.microsoft.com/office/drawing/2014/main" id="{0B56B31A-AE3F-5339-2EB1-B269CB78D6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97AC0C-725E-F670-5A00-C0E29DC2D1A4}"/>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1266300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A68C5-5851-9B8C-5811-2DE1823BE9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33FC89-6B6C-A531-17C5-AFE552BE7B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7C8D53-E16A-E6E8-04BE-12CBD5F33C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FC51-AE89-475C-82FA-267A14A7EEBD}"/>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6" name="Footer Placeholder 5">
            <a:extLst>
              <a:ext uri="{FF2B5EF4-FFF2-40B4-BE49-F238E27FC236}">
                <a16:creationId xmlns:a16="http://schemas.microsoft.com/office/drawing/2014/main" id="{8807B5C7-75C5-3E07-D501-3B34A53A25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54AFFD-DB7C-3485-1B14-3A0C31BDC452}"/>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3529305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6BB78-8CED-102E-68FE-6A116AB70F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71AAF1-729E-C92C-DA4E-D1FC737462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09B567-2B95-DC56-801B-6F4912C2F1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E89FE-1FC5-84F2-7036-8C01588F8D6C}"/>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6" name="Footer Placeholder 5">
            <a:extLst>
              <a:ext uri="{FF2B5EF4-FFF2-40B4-BE49-F238E27FC236}">
                <a16:creationId xmlns:a16="http://schemas.microsoft.com/office/drawing/2014/main" id="{7991E158-3042-11F8-6434-099A0DC9AB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DD04EA-0516-D34D-021E-3125424361E1}"/>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2766820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0977E-AA99-6A08-72AB-F9396BA5C1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E80BFB-A3D5-B18E-CF93-FF7E9C486B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F7AFB5-9A39-9D9D-6D4F-605AC43205D2}"/>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5" name="Footer Placeholder 4">
            <a:extLst>
              <a:ext uri="{FF2B5EF4-FFF2-40B4-BE49-F238E27FC236}">
                <a16:creationId xmlns:a16="http://schemas.microsoft.com/office/drawing/2014/main" id="{07E56679-3178-E15D-D80A-805306AFA7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83453B-EB78-A9EE-4C49-0054642BECB7}"/>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2192940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4C07F-B63F-D00D-23F1-63CC50D17C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BAD3EE-FD3F-4A4F-8EF2-9F1643EE6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102FF8-5ACD-C416-3B55-2F9432CBA39A}"/>
              </a:ext>
            </a:extLst>
          </p:cNvPr>
          <p:cNvSpPr>
            <a:spLocks noGrp="1"/>
          </p:cNvSpPr>
          <p:nvPr>
            <p:ph type="dt" sz="half" idx="10"/>
          </p:nvPr>
        </p:nvSpPr>
        <p:spPr/>
        <p:txBody>
          <a:bodyPr/>
          <a:lstStyle/>
          <a:p>
            <a:fld id="{D54E56C1-D836-4A05-B445-DC2D5E2FCF21}" type="datetimeFigureOut">
              <a:rPr lang="en-IN" smtClean="0"/>
              <a:t>27-11-2025</a:t>
            </a:fld>
            <a:endParaRPr lang="en-IN"/>
          </a:p>
        </p:txBody>
      </p:sp>
      <p:sp>
        <p:nvSpPr>
          <p:cNvPr id="5" name="Footer Placeholder 4">
            <a:extLst>
              <a:ext uri="{FF2B5EF4-FFF2-40B4-BE49-F238E27FC236}">
                <a16:creationId xmlns:a16="http://schemas.microsoft.com/office/drawing/2014/main" id="{AF302F37-D12A-3961-6704-CB8C4F451B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28D93F-A75B-1185-C39E-4466963E8A1D}"/>
              </a:ext>
            </a:extLst>
          </p:cNvPr>
          <p:cNvSpPr>
            <a:spLocks noGrp="1"/>
          </p:cNvSpPr>
          <p:nvPr>
            <p:ph type="sldNum" sz="quarter" idx="12"/>
          </p:nvPr>
        </p:nvSpPr>
        <p:spPr/>
        <p:txBody>
          <a:bodyPr/>
          <a:lstStyle/>
          <a:p>
            <a:fld id="{92949F4B-6204-4EA2-BAA2-E7CD13D14365}" type="slidenum">
              <a:rPr lang="en-IN" smtClean="0"/>
              <a:t>‹#›</a:t>
            </a:fld>
            <a:endParaRPr lang="en-IN"/>
          </a:p>
        </p:txBody>
      </p:sp>
    </p:spTree>
    <p:extLst>
      <p:ext uri="{BB962C8B-B14F-4D97-AF65-F5344CB8AC3E}">
        <p14:creationId xmlns:p14="http://schemas.microsoft.com/office/powerpoint/2010/main" val="1937709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96DAD9-CC77-1D3A-E44B-B81E57E268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1B6501-58C8-5566-CEA4-9022BC7218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B0740A-D1D5-C7C0-9D79-538388B67A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4E56C1-D836-4A05-B445-DC2D5E2FCF21}" type="datetimeFigureOut">
              <a:rPr lang="en-IN" smtClean="0"/>
              <a:t>27-11-2025</a:t>
            </a:fld>
            <a:endParaRPr lang="en-IN"/>
          </a:p>
        </p:txBody>
      </p:sp>
      <p:sp>
        <p:nvSpPr>
          <p:cNvPr id="5" name="Footer Placeholder 4">
            <a:extLst>
              <a:ext uri="{FF2B5EF4-FFF2-40B4-BE49-F238E27FC236}">
                <a16:creationId xmlns:a16="http://schemas.microsoft.com/office/drawing/2014/main" id="{6BF54219-AB68-6453-3602-E0F0728149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54B2AAB-3512-7588-26DC-555436E1C9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49F4B-6204-4EA2-BAA2-E7CD13D14365}" type="slidenum">
              <a:rPr lang="en-IN" smtClean="0"/>
              <a:t>‹#›</a:t>
            </a:fld>
            <a:endParaRPr lang="en-IN"/>
          </a:p>
        </p:txBody>
      </p:sp>
    </p:spTree>
    <p:extLst>
      <p:ext uri="{BB962C8B-B14F-4D97-AF65-F5344CB8AC3E}">
        <p14:creationId xmlns:p14="http://schemas.microsoft.com/office/powerpoint/2010/main" val="3525810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12270C-77E6-CAF5-5437-5BEB0A33EE43}"/>
              </a:ext>
            </a:extLst>
          </p:cNvPr>
          <p:cNvPicPr>
            <a:picLocks noChangeAspect="1"/>
          </p:cNvPicPr>
          <p:nvPr/>
        </p:nvPicPr>
        <p:blipFill>
          <a:blip r:embed="rId2"/>
          <a:stretch>
            <a:fillRect/>
          </a:stretch>
        </p:blipFill>
        <p:spPr>
          <a:xfrm>
            <a:off x="1836051" y="1459059"/>
            <a:ext cx="8519898" cy="3939881"/>
          </a:xfrm>
          <a:prstGeom prst="rect">
            <a:avLst/>
          </a:prstGeom>
        </p:spPr>
      </p:pic>
    </p:spTree>
    <p:extLst>
      <p:ext uri="{BB962C8B-B14F-4D97-AF65-F5344CB8AC3E}">
        <p14:creationId xmlns:p14="http://schemas.microsoft.com/office/powerpoint/2010/main" val="1577751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t>Structured vs Unstructured Data and the Need for Vector Databases</a:t>
            </a:r>
          </a:p>
        </p:txBody>
      </p:sp>
      <p:sp>
        <p:nvSpPr>
          <p:cNvPr id="3" name="Subtitle 2"/>
          <p:cNvSpPr>
            <a:spLocks noGrp="1"/>
          </p:cNvSpPr>
          <p:nvPr>
            <p:ph type="subTitle" idx="1"/>
          </p:nvPr>
        </p:nvSpPr>
        <p:spPr/>
        <p:txBody>
          <a:bodyPr/>
          <a:lstStyle/>
          <a:p>
            <a:r>
              <a:rPr dirty="0"/>
              <a:t>Why modern AI and semantic search require new database architectures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Structured Data</a:t>
            </a:r>
          </a:p>
        </p:txBody>
      </p:sp>
      <p:sp>
        <p:nvSpPr>
          <p:cNvPr id="3" name="Content Placeholder 2"/>
          <p:cNvSpPr>
            <a:spLocks noGrp="1"/>
          </p:cNvSpPr>
          <p:nvPr>
            <p:ph idx="1"/>
          </p:nvPr>
        </p:nvSpPr>
        <p:spPr/>
        <p:txBody>
          <a:bodyPr>
            <a:normAutofit lnSpcReduction="10000"/>
          </a:bodyPr>
          <a:lstStyle/>
          <a:p>
            <a:endParaRPr dirty="0"/>
          </a:p>
          <a:p>
            <a:pPr marL="0" indent="0">
              <a:buNone/>
            </a:pPr>
            <a:r>
              <a:rPr sz="1800" dirty="0"/>
              <a:t>• Organized in rows and columns within predefined schemas</a:t>
            </a:r>
          </a:p>
          <a:p>
            <a:pPr marL="0" indent="0">
              <a:buNone/>
            </a:pPr>
            <a:r>
              <a:rPr sz="1800" dirty="0"/>
              <a:t>• Examples: SQL Server, MySQL, PostgreSQL</a:t>
            </a:r>
          </a:p>
          <a:p>
            <a:pPr marL="0" indent="0">
              <a:buNone/>
            </a:pPr>
            <a:r>
              <a:rPr sz="1800" dirty="0"/>
              <a:t>• Ideal for financial transactions, user data, analytics</a:t>
            </a:r>
          </a:p>
          <a:p>
            <a:pPr marL="0" indent="0">
              <a:buNone/>
            </a:pPr>
            <a:r>
              <a:rPr sz="1800" dirty="0"/>
              <a:t>• Querying via SQL: SELECT, WHERE, JOIN</a:t>
            </a:r>
          </a:p>
          <a:p>
            <a:endParaRPr dirty="0"/>
          </a:p>
          <a:p>
            <a:r>
              <a:rPr sz="1900" dirty="0"/>
              <a:t>Example Table:</a:t>
            </a:r>
          </a:p>
          <a:p>
            <a:r>
              <a:rPr sz="1900" dirty="0"/>
              <a:t>| ID | Name | Salary | Date |</a:t>
            </a:r>
          </a:p>
          <a:p>
            <a:r>
              <a:rPr sz="1900" dirty="0"/>
              <a:t>|----|-------|--------|------|</a:t>
            </a:r>
          </a:p>
          <a:p>
            <a:r>
              <a:rPr sz="1900" dirty="0"/>
              <a:t>| 1  | Alice | 5000   | 2025-11-10 |</a:t>
            </a:r>
          </a:p>
          <a:p>
            <a:r>
              <a:rPr sz="1900" dirty="0"/>
              <a:t>| 2  | Bob   | 4500   | 2025-11-12 |</a:t>
            </a:r>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Limitations of Structured Databases</a:t>
            </a:r>
          </a:p>
        </p:txBody>
      </p:sp>
      <p:sp>
        <p:nvSpPr>
          <p:cNvPr id="3" name="Content Placeholder 2"/>
          <p:cNvSpPr>
            <a:spLocks noGrp="1"/>
          </p:cNvSpPr>
          <p:nvPr>
            <p:ph idx="1"/>
          </p:nvPr>
        </p:nvSpPr>
        <p:spPr/>
        <p:txBody>
          <a:bodyPr>
            <a:normAutofit/>
          </a:bodyPr>
          <a:lstStyle/>
          <a:p>
            <a:endParaRPr sz="1800" dirty="0"/>
          </a:p>
          <a:p>
            <a:pPr marL="0" indent="0">
              <a:buNone/>
            </a:pPr>
            <a:r>
              <a:rPr sz="1800" dirty="0"/>
              <a:t>• Only support structured, numeric, and categorical data</a:t>
            </a:r>
          </a:p>
          <a:p>
            <a:pPr marL="0" indent="0">
              <a:buNone/>
            </a:pPr>
            <a:r>
              <a:rPr sz="1800" dirty="0"/>
              <a:t>• Cannot natively store or search images, audio, or free text meaningfully</a:t>
            </a:r>
          </a:p>
          <a:p>
            <a:pPr marL="0" indent="0">
              <a:buNone/>
            </a:pPr>
            <a:r>
              <a:rPr sz="1800" dirty="0"/>
              <a:t>• Searches rely on exact or partial keyword matches</a:t>
            </a:r>
          </a:p>
          <a:p>
            <a:pPr marL="0" indent="0">
              <a:buNone/>
            </a:pPr>
            <a:r>
              <a:rPr sz="1800" dirty="0"/>
              <a:t>• Schema rigidity — difficult to scale for unstructured data</a:t>
            </a:r>
          </a:p>
          <a:p>
            <a:pPr marL="0" indent="0">
              <a:buNone/>
            </a:pPr>
            <a:r>
              <a:rPr sz="1800" dirty="0"/>
              <a:t>• Example: Searching 'happy' ≠ 'joyful' (no semantic link)</a:t>
            </a:r>
          </a:p>
          <a:p>
            <a:endParaRPr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Unstructured Data</a:t>
            </a:r>
          </a:p>
        </p:txBody>
      </p:sp>
      <p:sp>
        <p:nvSpPr>
          <p:cNvPr id="3" name="Content Placeholder 2"/>
          <p:cNvSpPr>
            <a:spLocks noGrp="1"/>
          </p:cNvSpPr>
          <p:nvPr>
            <p:ph idx="1"/>
          </p:nvPr>
        </p:nvSpPr>
        <p:spPr/>
        <p:txBody>
          <a:bodyPr>
            <a:normAutofit/>
          </a:bodyPr>
          <a:lstStyle/>
          <a:p>
            <a:pPr marL="0" indent="0">
              <a:buNone/>
            </a:pPr>
            <a:endParaRPr sz="1800" dirty="0"/>
          </a:p>
          <a:p>
            <a:pPr marL="0" indent="0">
              <a:buNone/>
            </a:pPr>
            <a:r>
              <a:rPr sz="1800" dirty="0"/>
              <a:t>• No fixed schema — includes text, images, videos, audio, documents</a:t>
            </a:r>
          </a:p>
          <a:p>
            <a:pPr marL="0" indent="0">
              <a:buNone/>
            </a:pPr>
            <a:r>
              <a:rPr sz="1800" dirty="0"/>
              <a:t>• Found in emails, reviews, logs, PDFs, social media</a:t>
            </a:r>
          </a:p>
          <a:p>
            <a:pPr marL="0" indent="0">
              <a:buNone/>
            </a:pPr>
            <a:r>
              <a:rPr sz="1800" dirty="0"/>
              <a:t>• Cannot be queried easily with SQL syntax</a:t>
            </a:r>
          </a:p>
          <a:p>
            <a:pPr marL="0" indent="0">
              <a:buNone/>
            </a:pPr>
            <a:r>
              <a:rPr sz="1800" dirty="0"/>
              <a:t>• Usually stored in NoSQL, object stores (MongoDB, AWS S3)</a:t>
            </a:r>
          </a:p>
          <a:p>
            <a:pPr marL="0" indent="0">
              <a:buNone/>
            </a:pPr>
            <a:endParaRPr sz="1800" dirty="0"/>
          </a:p>
          <a:p>
            <a:pPr marL="0" indent="0">
              <a:buNone/>
            </a:pPr>
            <a:r>
              <a:rPr sz="1800" dirty="0"/>
              <a:t>Example:</a:t>
            </a:r>
          </a:p>
          <a:p>
            <a:pPr marL="0" indent="0">
              <a:buNone/>
            </a:pPr>
            <a:r>
              <a:rPr sz="1800" dirty="0"/>
              <a:t>Review: "This phone takes great pictures in low light!"</a:t>
            </a:r>
          </a:p>
          <a:p>
            <a:pPr marL="0" indent="0">
              <a:buNone/>
            </a:pPr>
            <a:r>
              <a:rPr sz="1800" dirty="0"/>
              <a:t>→ Hard to find with SQL unless exact keywords match</a:t>
            </a:r>
          </a:p>
          <a:p>
            <a:pPr marL="0" indent="0">
              <a:buNone/>
            </a:pPr>
            <a:endParaRPr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Limitations of Non-Structured Databases</a:t>
            </a:r>
          </a:p>
        </p:txBody>
      </p:sp>
      <p:sp>
        <p:nvSpPr>
          <p:cNvPr id="3" name="Content Placeholder 2"/>
          <p:cNvSpPr>
            <a:spLocks noGrp="1"/>
          </p:cNvSpPr>
          <p:nvPr>
            <p:ph idx="1"/>
          </p:nvPr>
        </p:nvSpPr>
        <p:spPr/>
        <p:txBody>
          <a:bodyPr>
            <a:normAutofit/>
          </a:bodyPr>
          <a:lstStyle/>
          <a:p>
            <a:pPr marL="0" indent="0">
              <a:buNone/>
            </a:pPr>
            <a:endParaRPr sz="1800" dirty="0"/>
          </a:p>
          <a:p>
            <a:pPr marL="0" indent="0">
              <a:buNone/>
            </a:pPr>
            <a:r>
              <a:rPr sz="1800" dirty="0"/>
              <a:t>• Keyword-based retrieval — lacks understanding of context or meaning</a:t>
            </a:r>
          </a:p>
          <a:p>
            <a:pPr marL="0" indent="0">
              <a:buNone/>
            </a:pPr>
            <a:r>
              <a:rPr sz="1800" dirty="0"/>
              <a:t>• Cannot compare similarity between two sentences or images</a:t>
            </a:r>
          </a:p>
          <a:p>
            <a:pPr marL="0" indent="0">
              <a:buNone/>
            </a:pPr>
            <a:r>
              <a:rPr sz="1800" dirty="0"/>
              <a:t>• Searching relies on metadata or tags</a:t>
            </a:r>
          </a:p>
          <a:p>
            <a:pPr marL="0" indent="0">
              <a:buNone/>
            </a:pPr>
            <a:r>
              <a:rPr sz="1800" dirty="0"/>
              <a:t>• Not optimized for high-dimensional vector data</a:t>
            </a:r>
          </a:p>
          <a:p>
            <a:pPr marL="0" indent="0">
              <a:buNone/>
            </a:pPr>
            <a:r>
              <a:rPr sz="1800" dirty="0"/>
              <a:t>• Struggles with AI-driven tasks like semantic search or recommendations</a:t>
            </a:r>
          </a:p>
          <a:p>
            <a:pPr marL="0" indent="0">
              <a:buNone/>
            </a:pPr>
            <a:endParaRPr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We Need Vector Databases</a:t>
            </a:r>
          </a:p>
        </p:txBody>
      </p:sp>
      <p:sp>
        <p:nvSpPr>
          <p:cNvPr id="3" name="Content Placeholder 2"/>
          <p:cNvSpPr>
            <a:spLocks noGrp="1"/>
          </p:cNvSpPr>
          <p:nvPr>
            <p:ph idx="1"/>
          </p:nvPr>
        </p:nvSpPr>
        <p:spPr/>
        <p:txBody>
          <a:bodyPr>
            <a:normAutofit/>
          </a:bodyPr>
          <a:lstStyle/>
          <a:p>
            <a:pPr marL="0" indent="0">
              <a:buNone/>
            </a:pPr>
            <a:endParaRPr sz="1800" dirty="0"/>
          </a:p>
          <a:p>
            <a:pPr marL="0" indent="0">
              <a:buNone/>
            </a:pPr>
            <a:r>
              <a:rPr sz="1800" dirty="0"/>
              <a:t>• Traditional DBs store raw or categorical data — not meaning</a:t>
            </a:r>
          </a:p>
          <a:p>
            <a:pPr marL="0" indent="0">
              <a:buNone/>
            </a:pPr>
            <a:r>
              <a:rPr sz="1800" dirty="0"/>
              <a:t>• AI models convert data into embeddings (vectors) capturing semantics</a:t>
            </a:r>
          </a:p>
          <a:p>
            <a:pPr marL="0" indent="0">
              <a:buNone/>
            </a:pPr>
            <a:r>
              <a:rPr sz="1800" dirty="0"/>
              <a:t>• Vector databases store and query these embeddings efficiently</a:t>
            </a:r>
          </a:p>
          <a:p>
            <a:pPr marL="0" indent="0">
              <a:buNone/>
            </a:pPr>
            <a:r>
              <a:rPr sz="1800" dirty="0"/>
              <a:t>• Use distance metrics (Cosine, L2, IP) to find semantically similar results</a:t>
            </a:r>
          </a:p>
          <a:p>
            <a:pPr marL="0" indent="0">
              <a:buNone/>
            </a:pPr>
            <a:endParaRPr sz="1800" dirty="0"/>
          </a:p>
          <a:p>
            <a:pPr marL="0" indent="0">
              <a:buNone/>
            </a:pPr>
            <a:r>
              <a:rPr sz="1800" dirty="0"/>
              <a:t>Result: Search and recommendation systems that understand meaning.</a:t>
            </a:r>
          </a:p>
          <a:p>
            <a:pPr marL="0" indent="0">
              <a:buNone/>
            </a:pPr>
            <a:endParaRPr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Vector Databases Work</a:t>
            </a:r>
          </a:p>
        </p:txBody>
      </p:sp>
      <p:sp>
        <p:nvSpPr>
          <p:cNvPr id="3" name="Content Placeholder 2"/>
          <p:cNvSpPr>
            <a:spLocks noGrp="1"/>
          </p:cNvSpPr>
          <p:nvPr>
            <p:ph idx="1"/>
          </p:nvPr>
        </p:nvSpPr>
        <p:spPr/>
        <p:txBody>
          <a:bodyPr>
            <a:normAutofit/>
          </a:bodyPr>
          <a:lstStyle/>
          <a:p>
            <a:pPr marL="0" indent="0">
              <a:buNone/>
            </a:pPr>
            <a:endParaRPr sz="1800" dirty="0"/>
          </a:p>
          <a:p>
            <a:pPr marL="0" indent="0">
              <a:buNone/>
            </a:pPr>
            <a:r>
              <a:rPr sz="1800" dirty="0"/>
              <a:t>1️⃣ Convert data to embeddings using AI model (like OpenAI, Sentence Transformers)</a:t>
            </a:r>
          </a:p>
          <a:p>
            <a:pPr marL="0" indent="0">
              <a:buNone/>
            </a:pPr>
            <a:r>
              <a:rPr sz="1800" dirty="0"/>
              <a:t>2️⃣ Store embeddings (arrays of numbers) in a Vector Database (</a:t>
            </a:r>
            <a:r>
              <a:rPr sz="1800" dirty="0" err="1"/>
              <a:t>Qdrant</a:t>
            </a:r>
            <a:r>
              <a:rPr sz="1800" dirty="0"/>
              <a:t>, Pinecone, FAISS)</a:t>
            </a:r>
          </a:p>
          <a:p>
            <a:pPr marL="0" indent="0">
              <a:buNone/>
            </a:pPr>
            <a:r>
              <a:rPr sz="1800" dirty="0"/>
              <a:t>3️⃣ Query converts to embedding → finds nearest vectors → returns similar items</a:t>
            </a:r>
          </a:p>
          <a:p>
            <a:pPr marL="0" indent="0">
              <a:buNone/>
            </a:pPr>
            <a:endParaRPr sz="1800" dirty="0"/>
          </a:p>
          <a:p>
            <a:pPr marL="0" indent="0">
              <a:buNone/>
            </a:pPr>
            <a:r>
              <a:rPr sz="1800" dirty="0"/>
              <a:t>Example:</a:t>
            </a:r>
          </a:p>
          <a:p>
            <a:pPr marL="0" indent="0">
              <a:buNone/>
            </a:pPr>
            <a:r>
              <a:rPr sz="1800" dirty="0"/>
              <a:t>Text/Image ➜ Embedding ➜ Stored in DB ➜ Vector Search (by similarity)</a:t>
            </a:r>
          </a:p>
          <a:p>
            <a:pPr marL="0" indent="0">
              <a:buNone/>
            </a:pPr>
            <a:endParaRPr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Example: Qdrant Vector Search (Python)</a:t>
            </a:r>
          </a:p>
        </p:txBody>
      </p:sp>
      <p:sp>
        <p:nvSpPr>
          <p:cNvPr id="3" name="Content Placeholder 2"/>
          <p:cNvSpPr>
            <a:spLocks noGrp="1"/>
          </p:cNvSpPr>
          <p:nvPr>
            <p:ph idx="1"/>
          </p:nvPr>
        </p:nvSpPr>
        <p:spPr/>
        <p:txBody>
          <a:bodyPr>
            <a:noAutofit/>
          </a:bodyPr>
          <a:lstStyle/>
          <a:p>
            <a:pPr marL="0" indent="0">
              <a:buNone/>
            </a:pPr>
            <a:endParaRPr sz="1000" dirty="0"/>
          </a:p>
          <a:p>
            <a:pPr marL="0" indent="0">
              <a:buNone/>
            </a:pPr>
            <a:r>
              <a:rPr sz="1000" dirty="0"/>
              <a:t>from </a:t>
            </a:r>
            <a:r>
              <a:rPr sz="1000" dirty="0" err="1"/>
              <a:t>qdrant_client</a:t>
            </a:r>
            <a:r>
              <a:rPr sz="1000" dirty="0"/>
              <a:t> import </a:t>
            </a:r>
            <a:r>
              <a:rPr sz="1000" dirty="0" err="1"/>
              <a:t>QdrantClient</a:t>
            </a:r>
            <a:endParaRPr sz="1000" dirty="0"/>
          </a:p>
          <a:p>
            <a:pPr marL="0" indent="0">
              <a:buNone/>
            </a:pPr>
            <a:r>
              <a:rPr sz="1000" dirty="0"/>
              <a:t>from </a:t>
            </a:r>
            <a:r>
              <a:rPr sz="1000" dirty="0" err="1"/>
              <a:t>qdrant_client.models</a:t>
            </a:r>
            <a:r>
              <a:rPr sz="1000" dirty="0"/>
              <a:t> import </a:t>
            </a:r>
            <a:r>
              <a:rPr sz="1000" dirty="0" err="1"/>
              <a:t>VectorParams</a:t>
            </a:r>
            <a:r>
              <a:rPr sz="1000" dirty="0"/>
              <a:t>, Distance</a:t>
            </a:r>
          </a:p>
          <a:p>
            <a:pPr marL="0" indent="0">
              <a:buNone/>
            </a:pPr>
            <a:endParaRPr sz="1000" dirty="0"/>
          </a:p>
          <a:p>
            <a:pPr marL="0" indent="0">
              <a:buNone/>
            </a:pPr>
            <a:r>
              <a:rPr sz="1000" dirty="0"/>
              <a:t>client = </a:t>
            </a:r>
            <a:r>
              <a:rPr sz="1000" dirty="0" err="1"/>
              <a:t>QdrantClient</a:t>
            </a:r>
            <a:r>
              <a:rPr sz="1000" dirty="0"/>
              <a:t>("http://localhost:6333")</a:t>
            </a:r>
          </a:p>
          <a:p>
            <a:pPr marL="0" indent="0">
              <a:buNone/>
            </a:pPr>
            <a:endParaRPr sz="1000" dirty="0"/>
          </a:p>
          <a:p>
            <a:pPr marL="0" indent="0">
              <a:buNone/>
            </a:pPr>
            <a:r>
              <a:rPr sz="1000" dirty="0" err="1"/>
              <a:t>client.create_collection</a:t>
            </a:r>
            <a:r>
              <a:rPr sz="1000" dirty="0"/>
              <a:t>(</a:t>
            </a:r>
          </a:p>
          <a:p>
            <a:pPr marL="0" indent="0">
              <a:buNone/>
            </a:pPr>
            <a:r>
              <a:rPr sz="1000" dirty="0"/>
              <a:t>    </a:t>
            </a:r>
            <a:r>
              <a:rPr sz="1000" dirty="0" err="1"/>
              <a:t>collection_name</a:t>
            </a:r>
            <a:r>
              <a:rPr sz="1000" dirty="0"/>
              <a:t>="documents",</a:t>
            </a:r>
          </a:p>
          <a:p>
            <a:pPr marL="0" indent="0">
              <a:buNone/>
            </a:pPr>
            <a:r>
              <a:rPr sz="1000" dirty="0"/>
              <a:t>    </a:t>
            </a:r>
            <a:r>
              <a:rPr sz="1000" dirty="0" err="1"/>
              <a:t>vectors_config</a:t>
            </a:r>
            <a:r>
              <a:rPr sz="1000" dirty="0"/>
              <a:t>=</a:t>
            </a:r>
            <a:r>
              <a:rPr sz="1000" dirty="0" err="1"/>
              <a:t>VectorParams</a:t>
            </a:r>
            <a:r>
              <a:rPr sz="1000" dirty="0"/>
              <a:t>(size=768, distance=</a:t>
            </a:r>
            <a:r>
              <a:rPr sz="1000" dirty="0" err="1"/>
              <a:t>Distance.COSINE</a:t>
            </a:r>
            <a:r>
              <a:rPr sz="1000" dirty="0"/>
              <a:t>)</a:t>
            </a:r>
          </a:p>
          <a:p>
            <a:pPr marL="0" indent="0">
              <a:buNone/>
            </a:pPr>
            <a:r>
              <a:rPr sz="1000" dirty="0"/>
              <a:t>)</a:t>
            </a:r>
          </a:p>
          <a:p>
            <a:pPr marL="0" indent="0">
              <a:buNone/>
            </a:pPr>
            <a:endParaRPr sz="1000" dirty="0"/>
          </a:p>
          <a:p>
            <a:pPr marL="0" indent="0">
              <a:buNone/>
            </a:pPr>
            <a:r>
              <a:rPr sz="1000" dirty="0" err="1"/>
              <a:t>query_vector</a:t>
            </a:r>
            <a:r>
              <a:rPr sz="1000" dirty="0"/>
              <a:t> = [0.12, 0.08, 0.34, ...]  # Embedding from a model</a:t>
            </a:r>
          </a:p>
          <a:p>
            <a:pPr marL="0" indent="0">
              <a:buNone/>
            </a:pPr>
            <a:endParaRPr sz="1000" dirty="0"/>
          </a:p>
          <a:p>
            <a:pPr marL="0" indent="0">
              <a:buNone/>
            </a:pPr>
            <a:r>
              <a:rPr sz="1000" dirty="0"/>
              <a:t>results = </a:t>
            </a:r>
            <a:r>
              <a:rPr sz="1000" dirty="0" err="1"/>
              <a:t>client.query</a:t>
            </a:r>
            <a:r>
              <a:rPr sz="1000" dirty="0"/>
              <a:t>(</a:t>
            </a:r>
          </a:p>
          <a:p>
            <a:pPr marL="0" indent="0">
              <a:buNone/>
            </a:pPr>
            <a:r>
              <a:rPr sz="1000" dirty="0"/>
              <a:t>    </a:t>
            </a:r>
            <a:r>
              <a:rPr sz="1000" dirty="0" err="1"/>
              <a:t>collection_name</a:t>
            </a:r>
            <a:r>
              <a:rPr sz="1000" dirty="0"/>
              <a:t>="documents",</a:t>
            </a:r>
          </a:p>
          <a:p>
            <a:pPr marL="0" indent="0">
              <a:buNone/>
            </a:pPr>
            <a:r>
              <a:rPr sz="1000" dirty="0"/>
              <a:t>    </a:t>
            </a:r>
            <a:r>
              <a:rPr sz="1000" dirty="0" err="1"/>
              <a:t>query_vector</a:t>
            </a:r>
            <a:r>
              <a:rPr sz="1000" dirty="0"/>
              <a:t>=</a:t>
            </a:r>
            <a:r>
              <a:rPr sz="1000" dirty="0" err="1"/>
              <a:t>query_vector</a:t>
            </a:r>
            <a:r>
              <a:rPr sz="1000" dirty="0"/>
              <a:t>,</a:t>
            </a:r>
          </a:p>
          <a:p>
            <a:pPr marL="0" indent="0">
              <a:buNone/>
            </a:pPr>
            <a:r>
              <a:rPr sz="1000" dirty="0"/>
              <a:t>    limit=3</a:t>
            </a:r>
          </a:p>
          <a:p>
            <a:pPr marL="0" indent="0">
              <a:buNone/>
            </a:pPr>
            <a:r>
              <a:rPr sz="1000" dirty="0"/>
              <a:t>)</a:t>
            </a:r>
          </a:p>
          <a:p>
            <a:pPr marL="0" indent="0">
              <a:buNone/>
            </a:pPr>
            <a:endParaRPr sz="1000" dirty="0"/>
          </a:p>
          <a:p>
            <a:pPr marL="0" indent="0">
              <a:buNone/>
            </a:pPr>
            <a:r>
              <a:rPr sz="1000" dirty="0"/>
              <a:t>print(results)</a:t>
            </a:r>
          </a:p>
          <a:p>
            <a:pPr marL="0" indent="0">
              <a:buNone/>
            </a:pPr>
            <a:endParaRPr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Semantic Search Flow</a:t>
            </a:r>
          </a:p>
        </p:txBody>
      </p:sp>
      <p:sp>
        <p:nvSpPr>
          <p:cNvPr id="3" name="Content Placeholder 2"/>
          <p:cNvSpPr>
            <a:spLocks noGrp="1"/>
          </p:cNvSpPr>
          <p:nvPr>
            <p:ph idx="1"/>
          </p:nvPr>
        </p:nvSpPr>
        <p:spPr/>
        <p:txBody>
          <a:bodyPr>
            <a:normAutofit/>
          </a:bodyPr>
          <a:lstStyle/>
          <a:p>
            <a:pPr marL="0" indent="0">
              <a:buNone/>
            </a:pPr>
            <a:endParaRPr sz="1800" dirty="0"/>
          </a:p>
          <a:p>
            <a:pPr marL="0" indent="0">
              <a:buNone/>
            </a:pPr>
            <a:r>
              <a:rPr sz="1800" dirty="0"/>
              <a:t>Input Query: "red running shoes"</a:t>
            </a:r>
          </a:p>
          <a:p>
            <a:pPr marL="0" indent="0">
              <a:buNone/>
            </a:pPr>
            <a:endParaRPr sz="1800" dirty="0"/>
          </a:p>
          <a:p>
            <a:pPr marL="0" indent="0">
              <a:buNone/>
            </a:pPr>
            <a:r>
              <a:rPr sz="1800" dirty="0"/>
              <a:t>1️⃣ Text → Embedding via AI model</a:t>
            </a:r>
          </a:p>
          <a:p>
            <a:pPr marL="0" indent="0">
              <a:buNone/>
            </a:pPr>
            <a:r>
              <a:rPr sz="1800" dirty="0"/>
              <a:t>2️⃣ Compare with stored product vectors</a:t>
            </a:r>
          </a:p>
          <a:p>
            <a:pPr marL="0" indent="0">
              <a:buNone/>
            </a:pPr>
            <a:r>
              <a:rPr sz="1800" dirty="0"/>
              <a:t>3️⃣ Return closest matches by meaning, not keyword</a:t>
            </a:r>
          </a:p>
          <a:p>
            <a:pPr marL="0" indent="0">
              <a:buNone/>
            </a:pPr>
            <a:endParaRPr sz="1800" dirty="0"/>
          </a:p>
          <a:p>
            <a:pPr marL="0" indent="0">
              <a:buNone/>
            </a:pPr>
            <a:r>
              <a:rPr sz="1800" dirty="0"/>
              <a:t>Results:</a:t>
            </a:r>
          </a:p>
          <a:p>
            <a:pPr marL="0" indent="0">
              <a:buNone/>
            </a:pPr>
            <a:r>
              <a:rPr sz="1800" dirty="0"/>
              <a:t>• 'Sports sneakers'</a:t>
            </a:r>
          </a:p>
          <a:p>
            <a:pPr marL="0" indent="0">
              <a:buNone/>
            </a:pPr>
            <a:r>
              <a:rPr sz="1800" dirty="0"/>
              <a:t>• 'Jogging shoes'</a:t>
            </a:r>
          </a:p>
          <a:p>
            <a:pPr marL="0" indent="0">
              <a:buNone/>
            </a:pPr>
            <a:r>
              <a:rPr sz="1800" dirty="0"/>
              <a:t>• 'Athletic footwear'</a:t>
            </a:r>
          </a:p>
          <a:p>
            <a:pPr marL="0" indent="0">
              <a:buNone/>
            </a:pPr>
            <a:endParaRPr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Real-World Applications of Vector Databases</a:t>
            </a:r>
          </a:p>
        </p:txBody>
      </p:sp>
      <p:sp>
        <p:nvSpPr>
          <p:cNvPr id="3" name="Content Placeholder 2"/>
          <p:cNvSpPr>
            <a:spLocks noGrp="1"/>
          </p:cNvSpPr>
          <p:nvPr>
            <p:ph idx="1"/>
          </p:nvPr>
        </p:nvSpPr>
        <p:spPr/>
        <p:txBody>
          <a:bodyPr>
            <a:normAutofit/>
          </a:bodyPr>
          <a:lstStyle/>
          <a:p>
            <a:pPr marL="0" indent="0">
              <a:buNone/>
            </a:pPr>
            <a:endParaRPr sz="1800" dirty="0"/>
          </a:p>
          <a:p>
            <a:pPr marL="0" indent="0">
              <a:buNone/>
            </a:pPr>
            <a:r>
              <a:rPr sz="1800" dirty="0"/>
              <a:t>• Semantic search in knowledge bases and chatbots</a:t>
            </a:r>
          </a:p>
          <a:p>
            <a:pPr marL="0" indent="0">
              <a:buNone/>
            </a:pPr>
            <a:r>
              <a:rPr sz="1800" dirty="0"/>
              <a:t>• Image and multimedia similarity search</a:t>
            </a:r>
          </a:p>
          <a:p>
            <a:pPr marL="0" indent="0">
              <a:buNone/>
            </a:pPr>
            <a:r>
              <a:rPr sz="1800" dirty="0"/>
              <a:t>• Personalized recommendations (e.g., Amazon, Netflix)</a:t>
            </a:r>
          </a:p>
          <a:p>
            <a:pPr marL="0" indent="0">
              <a:buNone/>
            </a:pPr>
            <a:r>
              <a:rPr sz="1800" dirty="0"/>
              <a:t>• Fraud detection using behavioral pattern vectors</a:t>
            </a:r>
          </a:p>
          <a:p>
            <a:pPr marL="0" indent="0">
              <a:buNone/>
            </a:pPr>
            <a:r>
              <a:rPr sz="1800" dirty="0"/>
              <a:t>• AI context retrieval in LLM-powered apps (RAG)</a:t>
            </a:r>
          </a:p>
          <a:p>
            <a:pPr marL="0" indent="0">
              <a:buNone/>
            </a:pPr>
            <a:endParaRPr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EB973-B95C-B31D-7B06-3CF39CA244A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3810B48-0E15-2160-6FEB-C3D0BE5C91D1}"/>
              </a:ext>
            </a:extLst>
          </p:cNvPr>
          <p:cNvPicPr>
            <a:picLocks noChangeAspect="1"/>
          </p:cNvPicPr>
          <p:nvPr/>
        </p:nvPicPr>
        <p:blipFill>
          <a:blip r:embed="rId2"/>
          <a:stretch>
            <a:fillRect/>
          </a:stretch>
        </p:blipFill>
        <p:spPr>
          <a:xfrm>
            <a:off x="1599810" y="940854"/>
            <a:ext cx="8992379" cy="4976291"/>
          </a:xfrm>
          <a:prstGeom prst="rect">
            <a:avLst/>
          </a:prstGeom>
        </p:spPr>
      </p:pic>
    </p:spTree>
    <p:extLst>
      <p:ext uri="{BB962C8B-B14F-4D97-AF65-F5344CB8AC3E}">
        <p14:creationId xmlns:p14="http://schemas.microsoft.com/office/powerpoint/2010/main" val="358017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E075E-9469-85EE-F562-0C12530346B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408D972-3597-E578-77CD-0404F652A773}"/>
              </a:ext>
            </a:extLst>
          </p:cNvPr>
          <p:cNvPicPr>
            <a:picLocks noChangeAspect="1"/>
          </p:cNvPicPr>
          <p:nvPr/>
        </p:nvPicPr>
        <p:blipFill>
          <a:blip r:embed="rId2"/>
          <a:stretch>
            <a:fillRect/>
          </a:stretch>
        </p:blipFill>
        <p:spPr>
          <a:xfrm>
            <a:off x="1611241" y="998009"/>
            <a:ext cx="8969517" cy="4861981"/>
          </a:xfrm>
          <a:prstGeom prst="rect">
            <a:avLst/>
          </a:prstGeom>
        </p:spPr>
      </p:pic>
    </p:spTree>
    <p:extLst>
      <p:ext uri="{BB962C8B-B14F-4D97-AF65-F5344CB8AC3E}">
        <p14:creationId xmlns:p14="http://schemas.microsoft.com/office/powerpoint/2010/main" val="2778601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7407A-2362-4757-B488-0521529378D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0A75058-F110-58A4-474A-5C0D378D3188}"/>
              </a:ext>
            </a:extLst>
          </p:cNvPr>
          <p:cNvPicPr>
            <a:picLocks noChangeAspect="1"/>
          </p:cNvPicPr>
          <p:nvPr/>
        </p:nvPicPr>
        <p:blipFill>
          <a:blip r:embed="rId2"/>
          <a:stretch>
            <a:fillRect/>
          </a:stretch>
        </p:blipFill>
        <p:spPr>
          <a:xfrm>
            <a:off x="1458828" y="1058974"/>
            <a:ext cx="9274344" cy="4740051"/>
          </a:xfrm>
          <a:prstGeom prst="rect">
            <a:avLst/>
          </a:prstGeom>
        </p:spPr>
      </p:pic>
    </p:spTree>
    <p:extLst>
      <p:ext uri="{BB962C8B-B14F-4D97-AF65-F5344CB8AC3E}">
        <p14:creationId xmlns:p14="http://schemas.microsoft.com/office/powerpoint/2010/main" val="2636886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1E753-3453-4621-FA28-9CA368F2BF9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40FEDF9-3191-9841-1F93-C976B567258E}"/>
              </a:ext>
            </a:extLst>
          </p:cNvPr>
          <p:cNvPicPr>
            <a:picLocks noChangeAspect="1"/>
          </p:cNvPicPr>
          <p:nvPr/>
        </p:nvPicPr>
        <p:blipFill>
          <a:blip r:embed="rId2"/>
          <a:stretch>
            <a:fillRect/>
          </a:stretch>
        </p:blipFill>
        <p:spPr>
          <a:xfrm>
            <a:off x="1740792" y="1097078"/>
            <a:ext cx="8710415" cy="4663844"/>
          </a:xfrm>
          <a:prstGeom prst="rect">
            <a:avLst/>
          </a:prstGeom>
        </p:spPr>
      </p:pic>
    </p:spTree>
    <p:extLst>
      <p:ext uri="{BB962C8B-B14F-4D97-AF65-F5344CB8AC3E}">
        <p14:creationId xmlns:p14="http://schemas.microsoft.com/office/powerpoint/2010/main" val="398272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6FC6E-4391-5716-F69D-86BC02E4DB3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D881FDE-94DF-749D-70D9-92A199FDB515}"/>
              </a:ext>
            </a:extLst>
          </p:cNvPr>
          <p:cNvPicPr>
            <a:picLocks noChangeAspect="1"/>
          </p:cNvPicPr>
          <p:nvPr/>
        </p:nvPicPr>
        <p:blipFill>
          <a:blip r:embed="rId2"/>
          <a:stretch>
            <a:fillRect/>
          </a:stretch>
        </p:blipFill>
        <p:spPr>
          <a:xfrm>
            <a:off x="1687448" y="940854"/>
            <a:ext cx="8817104" cy="4976291"/>
          </a:xfrm>
          <a:prstGeom prst="rect">
            <a:avLst/>
          </a:prstGeom>
        </p:spPr>
      </p:pic>
    </p:spTree>
    <p:extLst>
      <p:ext uri="{BB962C8B-B14F-4D97-AF65-F5344CB8AC3E}">
        <p14:creationId xmlns:p14="http://schemas.microsoft.com/office/powerpoint/2010/main" val="626084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3C05C-E4A2-DEE8-E3B3-D3359B51B5F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8B753F7-B3E1-E1DB-1DD3-CA9EDA005DF3}"/>
              </a:ext>
            </a:extLst>
          </p:cNvPr>
          <p:cNvPicPr>
            <a:picLocks noChangeAspect="1"/>
          </p:cNvPicPr>
          <p:nvPr/>
        </p:nvPicPr>
        <p:blipFill>
          <a:blip r:embed="rId2"/>
          <a:stretch>
            <a:fillRect/>
          </a:stretch>
        </p:blipFill>
        <p:spPr>
          <a:xfrm>
            <a:off x="1523604" y="914182"/>
            <a:ext cx="9144792" cy="5029636"/>
          </a:xfrm>
          <a:prstGeom prst="rect">
            <a:avLst/>
          </a:prstGeom>
        </p:spPr>
      </p:pic>
    </p:spTree>
    <p:extLst>
      <p:ext uri="{BB962C8B-B14F-4D97-AF65-F5344CB8AC3E}">
        <p14:creationId xmlns:p14="http://schemas.microsoft.com/office/powerpoint/2010/main" val="2594182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E5F2D-85B5-26E0-21BF-8BAA0BAA787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ED25F63-E120-E52D-BA63-2F86241B0211}"/>
              </a:ext>
            </a:extLst>
          </p:cNvPr>
          <p:cNvPicPr>
            <a:picLocks noChangeAspect="1"/>
          </p:cNvPicPr>
          <p:nvPr/>
        </p:nvPicPr>
        <p:blipFill>
          <a:blip r:embed="rId2"/>
          <a:stretch>
            <a:fillRect/>
          </a:stretch>
        </p:blipFill>
        <p:spPr>
          <a:xfrm>
            <a:off x="1569327" y="1009440"/>
            <a:ext cx="9053345" cy="4839119"/>
          </a:xfrm>
          <a:prstGeom prst="rect">
            <a:avLst/>
          </a:prstGeom>
        </p:spPr>
      </p:pic>
    </p:spTree>
    <p:extLst>
      <p:ext uri="{BB962C8B-B14F-4D97-AF65-F5344CB8AC3E}">
        <p14:creationId xmlns:p14="http://schemas.microsoft.com/office/powerpoint/2010/main" val="1445950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9EA8-60ED-5DB7-11BF-3BBE934A38D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E6F1B6E-769D-EB49-6CCC-CF501E137E04}"/>
              </a:ext>
            </a:extLst>
          </p:cNvPr>
          <p:cNvPicPr>
            <a:picLocks noChangeAspect="1"/>
          </p:cNvPicPr>
          <p:nvPr/>
        </p:nvPicPr>
        <p:blipFill>
          <a:blip r:embed="rId2"/>
          <a:stretch>
            <a:fillRect/>
          </a:stretch>
        </p:blipFill>
        <p:spPr>
          <a:xfrm>
            <a:off x="1550276" y="1020871"/>
            <a:ext cx="9091448" cy="4816257"/>
          </a:xfrm>
          <a:prstGeom prst="rect">
            <a:avLst/>
          </a:prstGeom>
        </p:spPr>
      </p:pic>
    </p:spTree>
    <p:extLst>
      <p:ext uri="{BB962C8B-B14F-4D97-AF65-F5344CB8AC3E}">
        <p14:creationId xmlns:p14="http://schemas.microsoft.com/office/powerpoint/2010/main" val="463079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F69F8B-FBBD-C0CA-6404-5E68A0199426}"/>
              </a:ext>
            </a:extLst>
          </p:cNvPr>
          <p:cNvPicPr>
            <a:picLocks noChangeAspect="1"/>
          </p:cNvPicPr>
          <p:nvPr/>
        </p:nvPicPr>
        <p:blipFill>
          <a:blip r:embed="rId2"/>
          <a:stretch>
            <a:fillRect/>
          </a:stretch>
        </p:blipFill>
        <p:spPr>
          <a:xfrm>
            <a:off x="799544" y="577780"/>
            <a:ext cx="10715867" cy="5768629"/>
          </a:xfrm>
          <a:prstGeom prst="rect">
            <a:avLst/>
          </a:prstGeom>
        </p:spPr>
      </p:pic>
    </p:spTree>
    <p:extLst>
      <p:ext uri="{BB962C8B-B14F-4D97-AF65-F5344CB8AC3E}">
        <p14:creationId xmlns:p14="http://schemas.microsoft.com/office/powerpoint/2010/main" val="896322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5EECCE-63B7-6A1C-C391-1F0DA9137EA5}"/>
              </a:ext>
            </a:extLst>
          </p:cNvPr>
          <p:cNvPicPr>
            <a:picLocks noChangeAspect="1"/>
          </p:cNvPicPr>
          <p:nvPr/>
        </p:nvPicPr>
        <p:blipFill>
          <a:blip r:embed="rId2"/>
          <a:stretch>
            <a:fillRect/>
          </a:stretch>
        </p:blipFill>
        <p:spPr>
          <a:xfrm>
            <a:off x="1056039" y="1135464"/>
            <a:ext cx="9936396" cy="4521757"/>
          </a:xfrm>
          <a:prstGeom prst="rect">
            <a:avLst/>
          </a:prstGeom>
        </p:spPr>
      </p:pic>
    </p:spTree>
    <p:extLst>
      <p:ext uri="{BB962C8B-B14F-4D97-AF65-F5344CB8AC3E}">
        <p14:creationId xmlns:p14="http://schemas.microsoft.com/office/powerpoint/2010/main" val="186253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65177-5F7F-5C68-38D6-2FFD8330554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F5BA56-4615-A71E-B8FC-D7E167B18F6B}"/>
              </a:ext>
            </a:extLst>
          </p:cNvPr>
          <p:cNvPicPr>
            <a:picLocks noChangeAspect="1"/>
          </p:cNvPicPr>
          <p:nvPr/>
        </p:nvPicPr>
        <p:blipFill>
          <a:blip r:embed="rId2"/>
          <a:stretch>
            <a:fillRect/>
          </a:stretch>
        </p:blipFill>
        <p:spPr>
          <a:xfrm>
            <a:off x="1538845" y="1024681"/>
            <a:ext cx="9114310" cy="4808637"/>
          </a:xfrm>
          <a:prstGeom prst="rect">
            <a:avLst/>
          </a:prstGeom>
        </p:spPr>
      </p:pic>
    </p:spTree>
    <p:extLst>
      <p:ext uri="{BB962C8B-B14F-4D97-AF65-F5344CB8AC3E}">
        <p14:creationId xmlns:p14="http://schemas.microsoft.com/office/powerpoint/2010/main" val="2991268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931C9-45BB-36DF-C50C-1AF4C5A6313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1C6CD4-5F2B-BE2E-E7CF-D7DC651A638F}"/>
              </a:ext>
            </a:extLst>
          </p:cNvPr>
          <p:cNvPicPr>
            <a:picLocks noChangeAspect="1"/>
          </p:cNvPicPr>
          <p:nvPr/>
        </p:nvPicPr>
        <p:blipFill>
          <a:blip r:embed="rId2"/>
          <a:stretch>
            <a:fillRect/>
          </a:stretch>
        </p:blipFill>
        <p:spPr>
          <a:xfrm>
            <a:off x="1714120" y="944664"/>
            <a:ext cx="8763759" cy="4968671"/>
          </a:xfrm>
          <a:prstGeom prst="rect">
            <a:avLst/>
          </a:prstGeom>
        </p:spPr>
      </p:pic>
    </p:spTree>
    <p:extLst>
      <p:ext uri="{BB962C8B-B14F-4D97-AF65-F5344CB8AC3E}">
        <p14:creationId xmlns:p14="http://schemas.microsoft.com/office/powerpoint/2010/main" val="1450236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283E8-353A-D02C-AF89-8850EE6DB2A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049A2EF-B3E5-EA70-1114-E623C3663DF8}"/>
              </a:ext>
            </a:extLst>
          </p:cNvPr>
          <p:cNvPicPr>
            <a:picLocks noChangeAspect="1"/>
          </p:cNvPicPr>
          <p:nvPr/>
        </p:nvPicPr>
        <p:blipFill>
          <a:blip r:embed="rId2"/>
          <a:stretch>
            <a:fillRect/>
          </a:stretch>
        </p:blipFill>
        <p:spPr>
          <a:xfrm>
            <a:off x="1687448" y="868458"/>
            <a:ext cx="8817104" cy="5121084"/>
          </a:xfrm>
          <a:prstGeom prst="rect">
            <a:avLst/>
          </a:prstGeom>
        </p:spPr>
      </p:pic>
    </p:spTree>
    <p:extLst>
      <p:ext uri="{BB962C8B-B14F-4D97-AF65-F5344CB8AC3E}">
        <p14:creationId xmlns:p14="http://schemas.microsoft.com/office/powerpoint/2010/main" val="23113602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F18A3-23AE-A2DA-A0AB-5F201EDE01A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1B8A31-5B4C-2543-BA16-918431B82960}"/>
              </a:ext>
            </a:extLst>
          </p:cNvPr>
          <p:cNvPicPr>
            <a:picLocks noChangeAspect="1"/>
          </p:cNvPicPr>
          <p:nvPr/>
        </p:nvPicPr>
        <p:blipFill>
          <a:blip r:embed="rId2"/>
          <a:stretch>
            <a:fillRect/>
          </a:stretch>
        </p:blipFill>
        <p:spPr>
          <a:xfrm>
            <a:off x="1611241" y="1154233"/>
            <a:ext cx="8969517" cy="4549534"/>
          </a:xfrm>
          <a:prstGeom prst="rect">
            <a:avLst/>
          </a:prstGeom>
        </p:spPr>
      </p:pic>
    </p:spTree>
    <p:extLst>
      <p:ext uri="{BB962C8B-B14F-4D97-AF65-F5344CB8AC3E}">
        <p14:creationId xmlns:p14="http://schemas.microsoft.com/office/powerpoint/2010/main" val="2771010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3D654-2E8A-8C40-B50E-75C0C199F6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DF6F492-27B2-0EC3-0CC1-F6E0D62AF264}"/>
              </a:ext>
            </a:extLst>
          </p:cNvPr>
          <p:cNvPicPr>
            <a:picLocks noChangeAspect="1"/>
          </p:cNvPicPr>
          <p:nvPr/>
        </p:nvPicPr>
        <p:blipFill>
          <a:blip r:embed="rId2"/>
          <a:stretch>
            <a:fillRect/>
          </a:stretch>
        </p:blipFill>
        <p:spPr>
          <a:xfrm>
            <a:off x="1618862" y="1020871"/>
            <a:ext cx="8954276" cy="4816257"/>
          </a:xfrm>
          <a:prstGeom prst="rect">
            <a:avLst/>
          </a:prstGeom>
        </p:spPr>
      </p:pic>
    </p:spTree>
    <p:extLst>
      <p:ext uri="{BB962C8B-B14F-4D97-AF65-F5344CB8AC3E}">
        <p14:creationId xmlns:p14="http://schemas.microsoft.com/office/powerpoint/2010/main" val="3119780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8D00B-BDB7-F4F3-3AFF-EBE30FB59F2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C131D08-7BF1-A1C9-008F-1579469929ED}"/>
              </a:ext>
            </a:extLst>
          </p:cNvPr>
          <p:cNvPicPr>
            <a:picLocks noChangeAspect="1"/>
          </p:cNvPicPr>
          <p:nvPr/>
        </p:nvPicPr>
        <p:blipFill>
          <a:blip r:embed="rId2"/>
          <a:stretch>
            <a:fillRect/>
          </a:stretch>
        </p:blipFill>
        <p:spPr>
          <a:xfrm>
            <a:off x="1607431" y="1306646"/>
            <a:ext cx="8977138" cy="4244708"/>
          </a:xfrm>
          <a:prstGeom prst="rect">
            <a:avLst/>
          </a:prstGeom>
        </p:spPr>
      </p:pic>
    </p:spTree>
    <p:extLst>
      <p:ext uri="{BB962C8B-B14F-4D97-AF65-F5344CB8AC3E}">
        <p14:creationId xmlns:p14="http://schemas.microsoft.com/office/powerpoint/2010/main" val="2884677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AD8E1-0BE1-01E9-904E-0F8503F4E42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B8CC51-6B4A-FF40-82BD-F6D820DDEA5A}"/>
              </a:ext>
            </a:extLst>
          </p:cNvPr>
          <p:cNvPicPr>
            <a:picLocks noChangeAspect="1"/>
          </p:cNvPicPr>
          <p:nvPr/>
        </p:nvPicPr>
        <p:blipFill>
          <a:blip r:embed="rId2"/>
          <a:stretch>
            <a:fillRect/>
          </a:stretch>
        </p:blipFill>
        <p:spPr>
          <a:xfrm>
            <a:off x="1531224" y="990388"/>
            <a:ext cx="9129551" cy="4877223"/>
          </a:xfrm>
          <a:prstGeom prst="rect">
            <a:avLst/>
          </a:prstGeom>
        </p:spPr>
      </p:pic>
    </p:spTree>
    <p:extLst>
      <p:ext uri="{BB962C8B-B14F-4D97-AF65-F5344CB8AC3E}">
        <p14:creationId xmlns:p14="http://schemas.microsoft.com/office/powerpoint/2010/main" val="2626336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D2926-1378-B51C-6506-40C986A7982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9F7E447-7374-A49A-0B64-DAE5B3CE3D2A}"/>
              </a:ext>
            </a:extLst>
          </p:cNvPr>
          <p:cNvPicPr>
            <a:picLocks noChangeAspect="1"/>
          </p:cNvPicPr>
          <p:nvPr/>
        </p:nvPicPr>
        <p:blipFill>
          <a:blip r:embed="rId2"/>
          <a:stretch>
            <a:fillRect/>
          </a:stretch>
        </p:blipFill>
        <p:spPr>
          <a:xfrm>
            <a:off x="2582706" y="876079"/>
            <a:ext cx="5722256" cy="4140293"/>
          </a:xfrm>
          <a:prstGeom prst="rect">
            <a:avLst/>
          </a:prstGeom>
        </p:spPr>
      </p:pic>
      <p:sp>
        <p:nvSpPr>
          <p:cNvPr id="4" name="TextBox 3">
            <a:extLst>
              <a:ext uri="{FF2B5EF4-FFF2-40B4-BE49-F238E27FC236}">
                <a16:creationId xmlns:a16="http://schemas.microsoft.com/office/drawing/2014/main" id="{B8F988A6-41F5-1AF0-CEE2-6BE24C27644F}"/>
              </a:ext>
            </a:extLst>
          </p:cNvPr>
          <p:cNvSpPr txBox="1"/>
          <p:nvPr/>
        </p:nvSpPr>
        <p:spPr>
          <a:xfrm>
            <a:off x="2818563" y="5451231"/>
            <a:ext cx="5345723" cy="923330"/>
          </a:xfrm>
          <a:prstGeom prst="rect">
            <a:avLst/>
          </a:prstGeom>
          <a:noFill/>
        </p:spPr>
        <p:txBody>
          <a:bodyPr wrap="square" rtlCol="0">
            <a:spAutoFit/>
          </a:bodyPr>
          <a:lstStyle/>
          <a:p>
            <a:r>
              <a:rPr lang="en-IN" dirty="0"/>
              <a:t>GitHub =&gt; https://github.com/ytang07/milvus-projects/blob/main/vision/reverse_painting_search.ipynb</a:t>
            </a:r>
          </a:p>
        </p:txBody>
      </p:sp>
    </p:spTree>
    <p:extLst>
      <p:ext uri="{BB962C8B-B14F-4D97-AF65-F5344CB8AC3E}">
        <p14:creationId xmlns:p14="http://schemas.microsoft.com/office/powerpoint/2010/main" val="2916713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11F0B-913C-D1F3-C713-966DE329CBE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EC57055-8EC8-2DCD-B76C-D6FD74111742}"/>
              </a:ext>
            </a:extLst>
          </p:cNvPr>
          <p:cNvPicPr>
            <a:picLocks noChangeAspect="1"/>
          </p:cNvPicPr>
          <p:nvPr/>
        </p:nvPicPr>
        <p:blipFill>
          <a:blip r:embed="rId2"/>
          <a:stretch>
            <a:fillRect/>
          </a:stretch>
        </p:blipFill>
        <p:spPr>
          <a:xfrm>
            <a:off x="1874154" y="1238060"/>
            <a:ext cx="8443692" cy="4381880"/>
          </a:xfrm>
          <a:prstGeom prst="rect">
            <a:avLst/>
          </a:prstGeom>
        </p:spPr>
      </p:pic>
    </p:spTree>
    <p:extLst>
      <p:ext uri="{BB962C8B-B14F-4D97-AF65-F5344CB8AC3E}">
        <p14:creationId xmlns:p14="http://schemas.microsoft.com/office/powerpoint/2010/main" val="1648018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2319A-C6BF-9E57-EA38-572F6A81191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E95A0B6-3412-4E81-B0D0-268B46631E4E}"/>
              </a:ext>
            </a:extLst>
          </p:cNvPr>
          <p:cNvPicPr>
            <a:picLocks noChangeAspect="1"/>
          </p:cNvPicPr>
          <p:nvPr/>
        </p:nvPicPr>
        <p:blipFill>
          <a:blip r:embed="rId2"/>
          <a:stretch>
            <a:fillRect/>
          </a:stretch>
        </p:blipFill>
        <p:spPr>
          <a:xfrm>
            <a:off x="1599810" y="1001819"/>
            <a:ext cx="8992379" cy="4854361"/>
          </a:xfrm>
          <a:prstGeom prst="rect">
            <a:avLst/>
          </a:prstGeom>
        </p:spPr>
      </p:pic>
    </p:spTree>
    <p:extLst>
      <p:ext uri="{BB962C8B-B14F-4D97-AF65-F5344CB8AC3E}">
        <p14:creationId xmlns:p14="http://schemas.microsoft.com/office/powerpoint/2010/main" val="17074167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CAB93-63F1-72D5-27E3-D1202AD8062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ABF909D-5E01-34E8-FDAB-5E44C73231C5}"/>
              </a:ext>
            </a:extLst>
          </p:cNvPr>
          <p:cNvPicPr>
            <a:picLocks noChangeAspect="1"/>
          </p:cNvPicPr>
          <p:nvPr/>
        </p:nvPicPr>
        <p:blipFill>
          <a:blip r:embed="rId2"/>
          <a:stretch>
            <a:fillRect/>
          </a:stretch>
        </p:blipFill>
        <p:spPr>
          <a:xfrm>
            <a:off x="1752223" y="1154233"/>
            <a:ext cx="8687553" cy="4549534"/>
          </a:xfrm>
          <a:prstGeom prst="rect">
            <a:avLst/>
          </a:prstGeom>
        </p:spPr>
      </p:pic>
    </p:spTree>
    <p:extLst>
      <p:ext uri="{BB962C8B-B14F-4D97-AF65-F5344CB8AC3E}">
        <p14:creationId xmlns:p14="http://schemas.microsoft.com/office/powerpoint/2010/main" val="24168002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E2B2E-1496-64E3-892E-43386668D4F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1CDFE33-A40D-3758-CADA-FEB85980173C}"/>
              </a:ext>
            </a:extLst>
          </p:cNvPr>
          <p:cNvPicPr>
            <a:picLocks noChangeAspect="1"/>
          </p:cNvPicPr>
          <p:nvPr/>
        </p:nvPicPr>
        <p:blipFill>
          <a:blip r:embed="rId2"/>
          <a:stretch>
            <a:fillRect/>
          </a:stretch>
        </p:blipFill>
        <p:spPr>
          <a:xfrm>
            <a:off x="1576948" y="971337"/>
            <a:ext cx="9038103" cy="4915326"/>
          </a:xfrm>
          <a:prstGeom prst="rect">
            <a:avLst/>
          </a:prstGeom>
        </p:spPr>
      </p:pic>
    </p:spTree>
    <p:extLst>
      <p:ext uri="{BB962C8B-B14F-4D97-AF65-F5344CB8AC3E}">
        <p14:creationId xmlns:p14="http://schemas.microsoft.com/office/powerpoint/2010/main" val="8484539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734B5-911C-562C-8FB3-6DBEC39F142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627AEAB-12E5-BF3C-591E-5DC955BE2139}"/>
              </a:ext>
            </a:extLst>
          </p:cNvPr>
          <p:cNvPicPr>
            <a:picLocks noChangeAspect="1"/>
          </p:cNvPicPr>
          <p:nvPr/>
        </p:nvPicPr>
        <p:blipFill>
          <a:blip r:embed="rId2"/>
          <a:stretch>
            <a:fillRect/>
          </a:stretch>
        </p:blipFill>
        <p:spPr>
          <a:xfrm>
            <a:off x="1744603" y="982768"/>
            <a:ext cx="5872048" cy="3301099"/>
          </a:xfrm>
          <a:prstGeom prst="rect">
            <a:avLst/>
          </a:prstGeom>
        </p:spPr>
      </p:pic>
      <p:sp>
        <p:nvSpPr>
          <p:cNvPr id="4" name="TextBox 3">
            <a:extLst>
              <a:ext uri="{FF2B5EF4-FFF2-40B4-BE49-F238E27FC236}">
                <a16:creationId xmlns:a16="http://schemas.microsoft.com/office/drawing/2014/main" id="{24CAC882-DD11-B504-D798-CAC69B99CE4B}"/>
              </a:ext>
            </a:extLst>
          </p:cNvPr>
          <p:cNvSpPr txBox="1"/>
          <p:nvPr/>
        </p:nvSpPr>
        <p:spPr>
          <a:xfrm>
            <a:off x="1744603" y="4587072"/>
            <a:ext cx="10303371" cy="1200329"/>
          </a:xfrm>
          <a:prstGeom prst="rect">
            <a:avLst/>
          </a:prstGeom>
          <a:noFill/>
        </p:spPr>
        <p:txBody>
          <a:bodyPr wrap="square" rtlCol="0">
            <a:spAutoFit/>
          </a:bodyPr>
          <a:lstStyle/>
          <a:p>
            <a:r>
              <a:rPr lang="en-US" b="1" dirty="0"/>
              <a:t>Euclidean Distance</a:t>
            </a:r>
            <a:br>
              <a:rPr lang="en-US" b="1" dirty="0"/>
            </a:br>
            <a:r>
              <a:rPr lang="en-US" dirty="0"/>
              <a:t>Euclidean distance assesses the similarity of two vectors by measuring the straight-line distance between the two vector points. Vectors that are more similar will have a shorter absolute distance between them, while more dissimilar vectors will have a larger distance between one another.</a:t>
            </a:r>
            <a:endParaRPr lang="en-IN" dirty="0"/>
          </a:p>
        </p:txBody>
      </p:sp>
    </p:spTree>
    <p:extLst>
      <p:ext uri="{BB962C8B-B14F-4D97-AF65-F5344CB8AC3E}">
        <p14:creationId xmlns:p14="http://schemas.microsoft.com/office/powerpoint/2010/main" val="2879303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C5524-40CA-8D99-FFCB-37039A3DA58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25886DC-165A-BC37-C78E-5BB7A8735A65}"/>
              </a:ext>
            </a:extLst>
          </p:cNvPr>
          <p:cNvPicPr>
            <a:picLocks noChangeAspect="1"/>
          </p:cNvPicPr>
          <p:nvPr/>
        </p:nvPicPr>
        <p:blipFill>
          <a:blip r:embed="rId2"/>
          <a:stretch>
            <a:fillRect/>
          </a:stretch>
        </p:blipFill>
        <p:spPr>
          <a:xfrm>
            <a:off x="1607431" y="1036112"/>
            <a:ext cx="5255593" cy="2801793"/>
          </a:xfrm>
          <a:prstGeom prst="rect">
            <a:avLst/>
          </a:prstGeom>
        </p:spPr>
      </p:pic>
      <p:sp>
        <p:nvSpPr>
          <p:cNvPr id="4" name="TextBox 3">
            <a:extLst>
              <a:ext uri="{FF2B5EF4-FFF2-40B4-BE49-F238E27FC236}">
                <a16:creationId xmlns:a16="http://schemas.microsoft.com/office/drawing/2014/main" id="{C01420D3-8DA1-396D-2C5D-DA608E48562B}"/>
              </a:ext>
            </a:extLst>
          </p:cNvPr>
          <p:cNvSpPr txBox="1"/>
          <p:nvPr/>
        </p:nvSpPr>
        <p:spPr>
          <a:xfrm>
            <a:off x="1422700" y="4270548"/>
            <a:ext cx="9248649" cy="1754326"/>
          </a:xfrm>
          <a:prstGeom prst="rect">
            <a:avLst/>
          </a:prstGeom>
          <a:noFill/>
        </p:spPr>
        <p:txBody>
          <a:bodyPr wrap="square" rtlCol="0">
            <a:spAutoFit/>
          </a:bodyPr>
          <a:lstStyle/>
          <a:p>
            <a:r>
              <a:rPr lang="en-IN" b="1" dirty="0"/>
              <a:t>Dot Product</a:t>
            </a:r>
            <a:endParaRPr lang="en-US" dirty="0"/>
          </a:p>
          <a:p>
            <a:r>
              <a:rPr lang="en-US" dirty="0"/>
              <a:t>The dot product is a simple measure used to see how </a:t>
            </a:r>
            <a:r>
              <a:rPr lang="en-US" i="1" dirty="0"/>
              <a:t>aligned </a:t>
            </a:r>
            <a:r>
              <a:rPr lang="en-US" dirty="0"/>
              <a:t>two vectors are with one another. It tells us if the vectors point in the same direction, opposite directions, or are perpendicular to each other. It is calculated by multiplying the corresponding elements of the vectors and adding up the results to get a single scalar number.</a:t>
            </a:r>
          </a:p>
          <a:p>
            <a:r>
              <a:rPr lang="en-US" dirty="0"/>
              <a:t>Press enter or click to view image in full size</a:t>
            </a:r>
            <a:endParaRPr lang="en-IN" dirty="0"/>
          </a:p>
        </p:txBody>
      </p:sp>
    </p:spTree>
    <p:extLst>
      <p:ext uri="{BB962C8B-B14F-4D97-AF65-F5344CB8AC3E}">
        <p14:creationId xmlns:p14="http://schemas.microsoft.com/office/powerpoint/2010/main" val="26502674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49B36-76B0-AAD9-66F7-BD910E0E3F7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16CC01-BF12-8A97-EC18-DACE649F5B5B}"/>
              </a:ext>
            </a:extLst>
          </p:cNvPr>
          <p:cNvPicPr>
            <a:picLocks noChangeAspect="1"/>
          </p:cNvPicPr>
          <p:nvPr/>
        </p:nvPicPr>
        <p:blipFill>
          <a:blip r:embed="rId2"/>
          <a:stretch>
            <a:fillRect/>
          </a:stretch>
        </p:blipFill>
        <p:spPr>
          <a:xfrm>
            <a:off x="1576949" y="1009441"/>
            <a:ext cx="4861558" cy="2602942"/>
          </a:xfrm>
          <a:prstGeom prst="rect">
            <a:avLst/>
          </a:prstGeom>
        </p:spPr>
      </p:pic>
      <p:sp>
        <p:nvSpPr>
          <p:cNvPr id="4" name="TextBox 3">
            <a:extLst>
              <a:ext uri="{FF2B5EF4-FFF2-40B4-BE49-F238E27FC236}">
                <a16:creationId xmlns:a16="http://schemas.microsoft.com/office/drawing/2014/main" id="{BC375812-4579-A870-2C0B-D4ABA6B202F4}"/>
              </a:ext>
            </a:extLst>
          </p:cNvPr>
          <p:cNvSpPr txBox="1"/>
          <p:nvPr/>
        </p:nvSpPr>
        <p:spPr>
          <a:xfrm>
            <a:off x="1576949" y="4009292"/>
            <a:ext cx="9104449" cy="1477328"/>
          </a:xfrm>
          <a:prstGeom prst="rect">
            <a:avLst/>
          </a:prstGeom>
          <a:noFill/>
        </p:spPr>
        <p:txBody>
          <a:bodyPr wrap="square" rtlCol="0">
            <a:spAutoFit/>
          </a:bodyPr>
          <a:lstStyle/>
          <a:p>
            <a:r>
              <a:rPr lang="en-US" b="1" dirty="0"/>
              <a:t>Cosine Similarity</a:t>
            </a:r>
            <a:br>
              <a:rPr lang="en-US" dirty="0"/>
            </a:br>
            <a:r>
              <a:rPr lang="en-US" dirty="0"/>
              <a:t>Cosine similarity measures the similarity of two vectors by using the angle between these two vectors. The magnitude of the vectors themselves does not matter and only the angle is considered in this calculation, so if one vector contains small values and the other contains large values, this will not affect the resulting similarity value.</a:t>
            </a:r>
            <a:endParaRPr lang="en-IN" dirty="0"/>
          </a:p>
        </p:txBody>
      </p:sp>
    </p:spTree>
    <p:extLst>
      <p:ext uri="{BB962C8B-B14F-4D97-AF65-F5344CB8AC3E}">
        <p14:creationId xmlns:p14="http://schemas.microsoft.com/office/powerpoint/2010/main" val="3943166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62912-8ED7-F30B-36A6-BF0F4C35EDF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14B9B2-C997-FF6F-91FB-E57847E14049}"/>
              </a:ext>
            </a:extLst>
          </p:cNvPr>
          <p:cNvPicPr>
            <a:picLocks noChangeAspect="1"/>
          </p:cNvPicPr>
          <p:nvPr/>
        </p:nvPicPr>
        <p:blipFill>
          <a:blip r:embed="rId2"/>
          <a:stretch>
            <a:fillRect/>
          </a:stretch>
        </p:blipFill>
        <p:spPr>
          <a:xfrm>
            <a:off x="2030377" y="1321887"/>
            <a:ext cx="8131245" cy="3873111"/>
          </a:xfrm>
          <a:prstGeom prst="rect">
            <a:avLst/>
          </a:prstGeom>
        </p:spPr>
      </p:pic>
      <p:sp>
        <p:nvSpPr>
          <p:cNvPr id="4" name="TextBox 3">
            <a:extLst>
              <a:ext uri="{FF2B5EF4-FFF2-40B4-BE49-F238E27FC236}">
                <a16:creationId xmlns:a16="http://schemas.microsoft.com/office/drawing/2014/main" id="{1A96E497-E1CE-D8DB-EE68-7AEF5DAD83CB}"/>
              </a:ext>
            </a:extLst>
          </p:cNvPr>
          <p:cNvSpPr txBox="1"/>
          <p:nvPr/>
        </p:nvSpPr>
        <p:spPr>
          <a:xfrm>
            <a:off x="2030377" y="5461279"/>
            <a:ext cx="8173724" cy="923330"/>
          </a:xfrm>
          <a:prstGeom prst="rect">
            <a:avLst/>
          </a:prstGeom>
          <a:noFill/>
        </p:spPr>
        <p:txBody>
          <a:bodyPr wrap="square" rtlCol="0">
            <a:spAutoFit/>
          </a:bodyPr>
          <a:lstStyle/>
          <a:p>
            <a:r>
              <a:rPr lang="en-IN" dirty="0"/>
              <a:t>Reference Link =&gt;</a:t>
            </a:r>
            <a:br>
              <a:rPr lang="en-IN" dirty="0"/>
            </a:br>
            <a:r>
              <a:rPr lang="en-IN" dirty="0"/>
              <a:t>https://medium.com/kx-systems/how-vector-databases-search-by-similarity-a-comprehensive-primer-c4b80d13ce63</a:t>
            </a:r>
          </a:p>
        </p:txBody>
      </p:sp>
    </p:spTree>
    <p:extLst>
      <p:ext uri="{BB962C8B-B14F-4D97-AF65-F5344CB8AC3E}">
        <p14:creationId xmlns:p14="http://schemas.microsoft.com/office/powerpoint/2010/main" val="2334423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C74F3-8CBD-F237-1BFF-E478BEC4BF1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8DBAE6-A0C7-9ABD-319B-FACB58B4BCC3}"/>
              </a:ext>
            </a:extLst>
          </p:cNvPr>
          <p:cNvPicPr>
            <a:picLocks noChangeAspect="1"/>
          </p:cNvPicPr>
          <p:nvPr/>
        </p:nvPicPr>
        <p:blipFill>
          <a:blip r:embed="rId2"/>
          <a:stretch>
            <a:fillRect/>
          </a:stretch>
        </p:blipFill>
        <p:spPr>
          <a:xfrm>
            <a:off x="2106584" y="1253301"/>
            <a:ext cx="7978831" cy="4351397"/>
          </a:xfrm>
          <a:prstGeom prst="rect">
            <a:avLst/>
          </a:prstGeom>
        </p:spPr>
      </p:pic>
    </p:spTree>
    <p:extLst>
      <p:ext uri="{BB962C8B-B14F-4D97-AF65-F5344CB8AC3E}">
        <p14:creationId xmlns:p14="http://schemas.microsoft.com/office/powerpoint/2010/main" val="389691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45E9D-F6D7-C9E2-43D3-6EAAC810240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80D3CA-8EF3-5EC6-B7EE-32CE646D763A}"/>
              </a:ext>
            </a:extLst>
          </p:cNvPr>
          <p:cNvPicPr>
            <a:picLocks noChangeAspect="1"/>
          </p:cNvPicPr>
          <p:nvPr/>
        </p:nvPicPr>
        <p:blipFill>
          <a:blip r:embed="rId2"/>
          <a:stretch>
            <a:fillRect/>
          </a:stretch>
        </p:blipFill>
        <p:spPr>
          <a:xfrm>
            <a:off x="1858913" y="925613"/>
            <a:ext cx="8474174" cy="5006774"/>
          </a:xfrm>
          <a:prstGeom prst="rect">
            <a:avLst/>
          </a:prstGeom>
        </p:spPr>
      </p:pic>
    </p:spTree>
    <p:extLst>
      <p:ext uri="{BB962C8B-B14F-4D97-AF65-F5344CB8AC3E}">
        <p14:creationId xmlns:p14="http://schemas.microsoft.com/office/powerpoint/2010/main" val="431893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16ADF-95C0-4CD0-F2FC-E6E24C57DC18}"/>
              </a:ext>
            </a:extLst>
          </p:cNvPr>
          <p:cNvSpPr>
            <a:spLocks noGrp="1"/>
          </p:cNvSpPr>
          <p:nvPr>
            <p:ph type="title"/>
          </p:nvPr>
        </p:nvSpPr>
        <p:spPr/>
        <p:txBody>
          <a:bodyPr/>
          <a:lstStyle/>
          <a:p>
            <a:pPr algn="ctr"/>
            <a:r>
              <a:rPr lang="en-IN" dirty="0"/>
              <a:t>Vector Search Methods</a:t>
            </a:r>
          </a:p>
        </p:txBody>
      </p:sp>
      <p:pic>
        <p:nvPicPr>
          <p:cNvPr id="5" name="Content Placeholder 4">
            <a:extLst>
              <a:ext uri="{FF2B5EF4-FFF2-40B4-BE49-F238E27FC236}">
                <a16:creationId xmlns:a16="http://schemas.microsoft.com/office/drawing/2014/main" id="{891809A7-0900-713A-5B02-D62A509AF720}"/>
              </a:ext>
            </a:extLst>
          </p:cNvPr>
          <p:cNvPicPr>
            <a:picLocks noGrp="1" noChangeAspect="1"/>
          </p:cNvPicPr>
          <p:nvPr>
            <p:ph idx="1"/>
          </p:nvPr>
        </p:nvPicPr>
        <p:blipFill>
          <a:blip r:embed="rId2"/>
          <a:stretch>
            <a:fillRect/>
          </a:stretch>
        </p:blipFill>
        <p:spPr>
          <a:xfrm>
            <a:off x="3158235" y="2339990"/>
            <a:ext cx="5875529" cy="3322608"/>
          </a:xfrm>
          <a:prstGeom prst="rect">
            <a:avLst/>
          </a:prstGeom>
        </p:spPr>
      </p:pic>
    </p:spTree>
    <p:extLst>
      <p:ext uri="{BB962C8B-B14F-4D97-AF65-F5344CB8AC3E}">
        <p14:creationId xmlns:p14="http://schemas.microsoft.com/office/powerpoint/2010/main" val="3929368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How ChatGPT Understands a Query</a:t>
            </a:r>
          </a:p>
        </p:txBody>
      </p:sp>
      <p:sp>
        <p:nvSpPr>
          <p:cNvPr id="3" name="Subtitle 2"/>
          <p:cNvSpPr>
            <a:spLocks noGrp="1"/>
          </p:cNvSpPr>
          <p:nvPr>
            <p:ph type="subTitle" idx="1"/>
          </p:nvPr>
        </p:nvSpPr>
        <p:spPr/>
        <p:txBody>
          <a:bodyPr/>
          <a:lstStyle/>
          <a:p>
            <a:r>
              <a:t>From text input to intelligent response generation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ChatGPT doesn’t truly “know” language — it interprets it using mathematics.</a:t>
            </a:r>
          </a:p>
          <a:p>
            <a:r>
              <a:t>When you type a query, it converts your text into numerical patterns (vectors), understands context using Transformer layers, and predicts the best response.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Step-by-Step: How ChatGPT Processes a Query</a:t>
            </a:r>
          </a:p>
        </p:txBody>
      </p:sp>
      <p:sp>
        <p:nvSpPr>
          <p:cNvPr id="3" name="Content Placeholder 2"/>
          <p:cNvSpPr>
            <a:spLocks noGrp="1"/>
          </p:cNvSpPr>
          <p:nvPr>
            <p:ph idx="1"/>
          </p:nvPr>
        </p:nvSpPr>
        <p:spPr/>
        <p:txBody>
          <a:bodyPr/>
          <a:lstStyle/>
          <a:p>
            <a:r>
              <a:t>1️⃣ Tokenization – Breaks text into tokens (words or parts of words).</a:t>
            </a:r>
          </a:p>
          <a:p>
            <a:r>
              <a:t>2️⃣ Embedding – Converts tokens into vectors that represent meaning.</a:t>
            </a:r>
          </a:p>
          <a:p>
            <a:r>
              <a:t>3️⃣ Transformer Layers – Analyze relationships between words using self-attention.</a:t>
            </a:r>
          </a:p>
          <a:p>
            <a:r>
              <a:t>4️⃣ Context Understanding – Captures full meaning of the sentence.</a:t>
            </a:r>
          </a:p>
          <a:p>
            <a:r>
              <a:t>5️⃣ Response Generation – Predicts the most likely next words to answer.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ChatGPT vs Vector Database</a:t>
            </a:r>
          </a:p>
        </p:txBody>
      </p:sp>
      <p:sp>
        <p:nvSpPr>
          <p:cNvPr id="3" name="Content Placeholder 2"/>
          <p:cNvSpPr>
            <a:spLocks noGrp="1"/>
          </p:cNvSpPr>
          <p:nvPr>
            <p:ph idx="1"/>
          </p:nvPr>
        </p:nvSpPr>
        <p:spPr/>
        <p:txBody>
          <a:bodyPr/>
          <a:lstStyle/>
          <a:p>
            <a:r>
              <a:t>✅ ChatGPT uses vectors internally:</a:t>
            </a:r>
          </a:p>
          <a:p>
            <a:r>
              <a:t>   - Represents tokens, sentences, and meaning during processing.</a:t>
            </a:r>
          </a:p>
          <a:p>
            <a:r>
              <a:t>   - Vectors are temporary and used in memory.</a:t>
            </a:r>
          </a:p>
          <a:p>
            <a:endParaRPr/>
          </a:p>
          <a:p>
            <a:r>
              <a:t>❌ ChatGPT does NOT use a vector database:</a:t>
            </a:r>
          </a:p>
          <a:p>
            <a:r>
              <a:t>   - Model data (weights) are stored as tensors, not searchable vectors.</a:t>
            </a:r>
          </a:p>
          <a:p>
            <a:r>
              <a:t>   - Vector DBs are external systems used for retrieval (RAG).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Vectors vs Vector Database</a:t>
            </a:r>
          </a:p>
        </p:txBody>
      </p:sp>
      <p:graphicFrame>
        <p:nvGraphicFramePr>
          <p:cNvPr id="3" name="Table 2"/>
          <p:cNvGraphicFramePr>
            <a:graphicFrameLocks noGrp="1"/>
          </p:cNvGraphicFramePr>
          <p:nvPr/>
        </p:nvGraphicFramePr>
        <p:xfrm>
          <a:off x="1981200" y="1371600"/>
          <a:ext cx="8229600" cy="22860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r>
                        <a:t>Concept</a:t>
                      </a:r>
                    </a:p>
                  </a:txBody>
                  <a:tcPr/>
                </a:tc>
                <a:tc>
                  <a:txBody>
                    <a:bodyPr/>
                    <a:lstStyle/>
                    <a:p>
                      <a:r>
                        <a:t>Used by ChatGPT?</a:t>
                      </a:r>
                    </a:p>
                  </a:txBody>
                  <a:tcPr/>
                </a:tc>
                <a:tc>
                  <a:txBody>
                    <a:bodyPr/>
                    <a:lstStyle/>
                    <a:p>
                      <a:r>
                        <a:t>Purpose</a:t>
                      </a:r>
                    </a:p>
                  </a:txBody>
                  <a:tcPr/>
                </a:tc>
                <a:extLst>
                  <a:ext uri="{0D108BD9-81ED-4DB2-BD59-A6C34878D82A}">
                    <a16:rowId xmlns:a16="http://schemas.microsoft.com/office/drawing/2014/main" val="10000"/>
                  </a:ext>
                </a:extLst>
              </a:tr>
              <a:tr h="457200">
                <a:tc>
                  <a:txBody>
                    <a:bodyPr/>
                    <a:lstStyle/>
                    <a:p>
                      <a:r>
                        <a:t>Vectors (Embeddings)</a:t>
                      </a:r>
                    </a:p>
                  </a:txBody>
                  <a:tcPr/>
                </a:tc>
                <a:tc>
                  <a:txBody>
                    <a:bodyPr/>
                    <a:lstStyle/>
                    <a:p>
                      <a:r>
                        <a:t>✅ Yes</a:t>
                      </a:r>
                    </a:p>
                  </a:txBody>
                  <a:tcPr/>
                </a:tc>
                <a:tc>
                  <a:txBody>
                    <a:bodyPr/>
                    <a:lstStyle/>
                    <a:p>
                      <a:r>
                        <a:t>Represent meanings internally during understanding.</a:t>
                      </a:r>
                    </a:p>
                  </a:txBody>
                  <a:tcPr/>
                </a:tc>
                <a:extLst>
                  <a:ext uri="{0D108BD9-81ED-4DB2-BD59-A6C34878D82A}">
                    <a16:rowId xmlns:a16="http://schemas.microsoft.com/office/drawing/2014/main" val="10001"/>
                  </a:ext>
                </a:extLst>
              </a:tr>
              <a:tr h="457200">
                <a:tc>
                  <a:txBody>
                    <a:bodyPr/>
                    <a:lstStyle/>
                    <a:p>
                      <a:r>
                        <a:t>Vector Database</a:t>
                      </a:r>
                    </a:p>
                  </a:txBody>
                  <a:tcPr/>
                </a:tc>
                <a:tc>
                  <a:txBody>
                    <a:bodyPr/>
                    <a:lstStyle/>
                    <a:p>
                      <a:r>
                        <a:t>❌ No</a:t>
                      </a:r>
                    </a:p>
                  </a:txBody>
                  <a:tcPr/>
                </a:tc>
                <a:tc>
                  <a:txBody>
                    <a:bodyPr/>
                    <a:lstStyle/>
                    <a:p>
                      <a:r>
                        <a:t>Used externally for semantic search and retrieval (RAG).</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 Flow Summary</a:t>
            </a:r>
          </a:p>
        </p:txBody>
      </p:sp>
      <p:sp>
        <p:nvSpPr>
          <p:cNvPr id="3" name="Content Placeholder 2"/>
          <p:cNvSpPr>
            <a:spLocks noGrp="1"/>
          </p:cNvSpPr>
          <p:nvPr>
            <p:ph idx="1"/>
          </p:nvPr>
        </p:nvSpPr>
        <p:spPr/>
        <p:txBody>
          <a:bodyPr/>
          <a:lstStyle/>
          <a:p>
            <a:r>
              <a:t>User Input → Tokenization → Embedding → Transformer Layers → Context Understanding → Response Generation</a:t>
            </a:r>
          </a:p>
          <a:p>
            <a:endParaRPr/>
          </a:p>
          <a:p>
            <a:r>
              <a:t>Each stage converts text into deeper layers of numerical meaning until the model generates an intelligent, coherent response.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1299-1BE2-94A7-D212-ABAEA0292E80}"/>
              </a:ext>
            </a:extLst>
          </p:cNvPr>
          <p:cNvPicPr>
            <a:picLocks noChangeAspect="1"/>
          </p:cNvPicPr>
          <p:nvPr/>
        </p:nvPicPr>
        <p:blipFill>
          <a:blip r:embed="rId2"/>
          <a:stretch>
            <a:fillRect/>
          </a:stretch>
        </p:blipFill>
        <p:spPr>
          <a:xfrm>
            <a:off x="863491" y="1034980"/>
            <a:ext cx="8936356" cy="5182479"/>
          </a:xfrm>
          <a:prstGeom prst="rect">
            <a:avLst/>
          </a:prstGeom>
        </p:spPr>
      </p:pic>
    </p:spTree>
    <p:extLst>
      <p:ext uri="{BB962C8B-B14F-4D97-AF65-F5344CB8AC3E}">
        <p14:creationId xmlns:p14="http://schemas.microsoft.com/office/powerpoint/2010/main" val="30526560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F924E1-70FF-A6EA-FF33-AFBF3C85F822}"/>
              </a:ext>
            </a:extLst>
          </p:cNvPr>
          <p:cNvPicPr>
            <a:picLocks noChangeAspect="1"/>
          </p:cNvPicPr>
          <p:nvPr/>
        </p:nvPicPr>
        <p:blipFill>
          <a:blip r:embed="rId2"/>
          <a:stretch>
            <a:fillRect/>
          </a:stretch>
        </p:blipFill>
        <p:spPr>
          <a:xfrm>
            <a:off x="1904564" y="1161717"/>
            <a:ext cx="8102405" cy="4534565"/>
          </a:xfrm>
          <a:prstGeom prst="rect">
            <a:avLst/>
          </a:prstGeom>
        </p:spPr>
      </p:pic>
    </p:spTree>
    <p:extLst>
      <p:ext uri="{BB962C8B-B14F-4D97-AF65-F5344CB8AC3E}">
        <p14:creationId xmlns:p14="http://schemas.microsoft.com/office/powerpoint/2010/main" val="6614842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2DB60-EF46-106C-2785-67058AF3940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9AF5C46-1B59-97A2-596B-6D61EA159E81}"/>
              </a:ext>
            </a:extLst>
          </p:cNvPr>
          <p:cNvPicPr>
            <a:picLocks noChangeAspect="1"/>
          </p:cNvPicPr>
          <p:nvPr/>
        </p:nvPicPr>
        <p:blipFill>
          <a:blip r:embed="rId2"/>
          <a:stretch>
            <a:fillRect/>
          </a:stretch>
        </p:blipFill>
        <p:spPr>
          <a:xfrm>
            <a:off x="2492190" y="1168284"/>
            <a:ext cx="7207620" cy="4521432"/>
          </a:xfrm>
          <a:prstGeom prst="rect">
            <a:avLst/>
          </a:prstGeom>
        </p:spPr>
      </p:pic>
    </p:spTree>
    <p:extLst>
      <p:ext uri="{BB962C8B-B14F-4D97-AF65-F5344CB8AC3E}">
        <p14:creationId xmlns:p14="http://schemas.microsoft.com/office/powerpoint/2010/main" val="4927284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50AD6-12AE-075B-4E59-C5A297F993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E7D6A8E-25A7-D52D-7C17-0B32B500121C}"/>
              </a:ext>
            </a:extLst>
          </p:cNvPr>
          <p:cNvPicPr>
            <a:picLocks noChangeAspect="1"/>
          </p:cNvPicPr>
          <p:nvPr/>
        </p:nvPicPr>
        <p:blipFill>
          <a:blip r:embed="rId2"/>
          <a:stretch>
            <a:fillRect/>
          </a:stretch>
        </p:blipFill>
        <p:spPr>
          <a:xfrm>
            <a:off x="3101821" y="2158934"/>
            <a:ext cx="5988358" cy="2540131"/>
          </a:xfrm>
          <a:prstGeom prst="rect">
            <a:avLst/>
          </a:prstGeom>
        </p:spPr>
      </p:pic>
    </p:spTree>
    <p:extLst>
      <p:ext uri="{BB962C8B-B14F-4D97-AF65-F5344CB8AC3E}">
        <p14:creationId xmlns:p14="http://schemas.microsoft.com/office/powerpoint/2010/main" val="30489428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5C811-736B-C13E-3EE8-E98351B09608}"/>
            </a:ext>
          </a:extLst>
        </p:cNvPr>
        <p:cNvGrpSpPr/>
        <p:nvPr/>
      </p:nvGrpSpPr>
      <p:grpSpPr>
        <a:xfrm>
          <a:off x="0" y="0"/>
          <a:ext cx="0" cy="0"/>
          <a:chOff x="0" y="0"/>
          <a:chExt cx="0" cy="0"/>
        </a:xfrm>
      </p:grpSpPr>
      <p:pic>
        <p:nvPicPr>
          <p:cNvPr id="1026" name="Picture 2" descr="Advanced RAG: Architecture, Techniques, Applications and Use Cases and  Development">
            <a:extLst>
              <a:ext uri="{FF2B5EF4-FFF2-40B4-BE49-F238E27FC236}">
                <a16:creationId xmlns:a16="http://schemas.microsoft.com/office/drawing/2014/main" id="{2421C928-0205-530A-7866-9122C12CC6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0"/>
            <a:ext cx="1218088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41622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15BE2-B5A9-BAB2-DC07-387B07B5C80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60953C5-59D6-48A0-316B-04F6CCA9937B}"/>
              </a:ext>
            </a:extLst>
          </p:cNvPr>
          <p:cNvPicPr>
            <a:picLocks noChangeAspect="1"/>
          </p:cNvPicPr>
          <p:nvPr/>
        </p:nvPicPr>
        <p:blipFill>
          <a:blip r:embed="rId2"/>
          <a:stretch>
            <a:fillRect/>
          </a:stretch>
        </p:blipFill>
        <p:spPr>
          <a:xfrm>
            <a:off x="427703" y="406823"/>
            <a:ext cx="11336594" cy="5876264"/>
          </a:xfrm>
          <a:prstGeom prst="rect">
            <a:avLst/>
          </a:prstGeom>
        </p:spPr>
      </p:pic>
    </p:spTree>
    <p:extLst>
      <p:ext uri="{BB962C8B-B14F-4D97-AF65-F5344CB8AC3E}">
        <p14:creationId xmlns:p14="http://schemas.microsoft.com/office/powerpoint/2010/main" val="19530989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C29AE-2E3D-49BF-0158-8180CE9829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BA1D986-01DF-B5E3-721A-25CBCF02FB30}"/>
              </a:ext>
            </a:extLst>
          </p:cNvPr>
          <p:cNvPicPr>
            <a:picLocks noChangeAspect="1"/>
          </p:cNvPicPr>
          <p:nvPr/>
        </p:nvPicPr>
        <p:blipFill>
          <a:blip r:embed="rId2"/>
          <a:stretch>
            <a:fillRect/>
          </a:stretch>
        </p:blipFill>
        <p:spPr>
          <a:xfrm>
            <a:off x="1385559" y="521110"/>
            <a:ext cx="9715536" cy="5997677"/>
          </a:xfrm>
          <a:prstGeom prst="rect">
            <a:avLst/>
          </a:prstGeom>
        </p:spPr>
      </p:pic>
    </p:spTree>
    <p:extLst>
      <p:ext uri="{BB962C8B-B14F-4D97-AF65-F5344CB8AC3E}">
        <p14:creationId xmlns:p14="http://schemas.microsoft.com/office/powerpoint/2010/main" val="39201567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BF696-1C2E-DC5C-4600-34AACE99B2E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48C44E-D45D-637C-1D57-D38B9D75F792}"/>
              </a:ext>
            </a:extLst>
          </p:cNvPr>
          <p:cNvPicPr>
            <a:picLocks noChangeAspect="1"/>
          </p:cNvPicPr>
          <p:nvPr/>
        </p:nvPicPr>
        <p:blipFill>
          <a:blip r:embed="rId2"/>
          <a:stretch>
            <a:fillRect/>
          </a:stretch>
        </p:blipFill>
        <p:spPr>
          <a:xfrm>
            <a:off x="671520" y="737419"/>
            <a:ext cx="10977759" cy="5447071"/>
          </a:xfrm>
          <a:prstGeom prst="rect">
            <a:avLst/>
          </a:prstGeom>
        </p:spPr>
      </p:pic>
    </p:spTree>
    <p:extLst>
      <p:ext uri="{BB962C8B-B14F-4D97-AF65-F5344CB8AC3E}">
        <p14:creationId xmlns:p14="http://schemas.microsoft.com/office/powerpoint/2010/main" val="38883830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A9F9B-D597-537C-E1F1-45E41179BE3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DAACCAE-F5E8-E1E5-CC95-F6A22B73B3C4}"/>
              </a:ext>
            </a:extLst>
          </p:cNvPr>
          <p:cNvPicPr>
            <a:picLocks noChangeAspect="1"/>
          </p:cNvPicPr>
          <p:nvPr/>
        </p:nvPicPr>
        <p:blipFill>
          <a:blip r:embed="rId2"/>
          <a:stretch>
            <a:fillRect/>
          </a:stretch>
        </p:blipFill>
        <p:spPr>
          <a:xfrm>
            <a:off x="1239796" y="1073350"/>
            <a:ext cx="8976613" cy="4875165"/>
          </a:xfrm>
          <a:prstGeom prst="rect">
            <a:avLst/>
          </a:prstGeom>
        </p:spPr>
      </p:pic>
    </p:spTree>
    <p:extLst>
      <p:ext uri="{BB962C8B-B14F-4D97-AF65-F5344CB8AC3E}">
        <p14:creationId xmlns:p14="http://schemas.microsoft.com/office/powerpoint/2010/main" val="20082172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87789-3E44-83E4-E85C-E1091D26830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20E149A-356A-CAF9-DBC4-68D4958D98F2}"/>
              </a:ext>
            </a:extLst>
          </p:cNvPr>
          <p:cNvPicPr>
            <a:picLocks noChangeAspect="1"/>
          </p:cNvPicPr>
          <p:nvPr/>
        </p:nvPicPr>
        <p:blipFill>
          <a:blip r:embed="rId2"/>
          <a:stretch>
            <a:fillRect/>
          </a:stretch>
        </p:blipFill>
        <p:spPr>
          <a:xfrm>
            <a:off x="934064" y="750677"/>
            <a:ext cx="8961777" cy="5356646"/>
          </a:xfrm>
          <a:prstGeom prst="rect">
            <a:avLst/>
          </a:prstGeom>
        </p:spPr>
      </p:pic>
    </p:spTree>
    <p:extLst>
      <p:ext uri="{BB962C8B-B14F-4D97-AF65-F5344CB8AC3E}">
        <p14:creationId xmlns:p14="http://schemas.microsoft.com/office/powerpoint/2010/main" val="522803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3AD1C-3EAC-D64B-A5D7-C55231321F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27D6892-A7EB-FFCD-23A2-CD721DF683FB}"/>
              </a:ext>
            </a:extLst>
          </p:cNvPr>
          <p:cNvPicPr>
            <a:picLocks noChangeAspect="1"/>
          </p:cNvPicPr>
          <p:nvPr/>
        </p:nvPicPr>
        <p:blipFill>
          <a:blip r:embed="rId2"/>
          <a:stretch>
            <a:fillRect/>
          </a:stretch>
        </p:blipFill>
        <p:spPr>
          <a:xfrm>
            <a:off x="975966" y="647645"/>
            <a:ext cx="9759577" cy="5562710"/>
          </a:xfrm>
          <a:prstGeom prst="rect">
            <a:avLst/>
          </a:prstGeom>
        </p:spPr>
      </p:pic>
    </p:spTree>
    <p:extLst>
      <p:ext uri="{BB962C8B-B14F-4D97-AF65-F5344CB8AC3E}">
        <p14:creationId xmlns:p14="http://schemas.microsoft.com/office/powerpoint/2010/main" val="27781236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7CF26-D8E6-D49F-F231-4AA8E4173F7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9CAAFBD-7DDB-4FAC-00DC-E234DE3A8E90}"/>
              </a:ext>
            </a:extLst>
          </p:cNvPr>
          <p:cNvPicPr>
            <a:picLocks noChangeAspect="1"/>
          </p:cNvPicPr>
          <p:nvPr/>
        </p:nvPicPr>
        <p:blipFill>
          <a:blip r:embed="rId2"/>
          <a:stretch>
            <a:fillRect/>
          </a:stretch>
        </p:blipFill>
        <p:spPr>
          <a:xfrm>
            <a:off x="1042219" y="397608"/>
            <a:ext cx="9631202" cy="5777050"/>
          </a:xfrm>
          <a:prstGeom prst="rect">
            <a:avLst/>
          </a:prstGeom>
        </p:spPr>
      </p:pic>
    </p:spTree>
    <p:extLst>
      <p:ext uri="{BB962C8B-B14F-4D97-AF65-F5344CB8AC3E}">
        <p14:creationId xmlns:p14="http://schemas.microsoft.com/office/powerpoint/2010/main" val="21012945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6354B-6380-B476-C072-61EE62A1B9E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14CDA99-E578-6C65-BC62-121451D765A6}"/>
              </a:ext>
            </a:extLst>
          </p:cNvPr>
          <p:cNvPicPr>
            <a:picLocks noChangeAspect="1"/>
          </p:cNvPicPr>
          <p:nvPr/>
        </p:nvPicPr>
        <p:blipFill>
          <a:blip r:embed="rId2"/>
          <a:stretch>
            <a:fillRect/>
          </a:stretch>
        </p:blipFill>
        <p:spPr>
          <a:xfrm>
            <a:off x="1367614" y="774794"/>
            <a:ext cx="8893591" cy="5045903"/>
          </a:xfrm>
          <a:prstGeom prst="rect">
            <a:avLst/>
          </a:prstGeom>
        </p:spPr>
      </p:pic>
    </p:spTree>
    <p:extLst>
      <p:ext uri="{BB962C8B-B14F-4D97-AF65-F5344CB8AC3E}">
        <p14:creationId xmlns:p14="http://schemas.microsoft.com/office/powerpoint/2010/main" val="21108232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416A6-41A2-4C2A-4170-CF0DF273CFF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E027E2D-42B5-C656-B26D-70D24BBD7C2D}"/>
              </a:ext>
            </a:extLst>
          </p:cNvPr>
          <p:cNvPicPr>
            <a:picLocks noChangeAspect="1"/>
          </p:cNvPicPr>
          <p:nvPr/>
        </p:nvPicPr>
        <p:blipFill>
          <a:blip r:embed="rId2"/>
          <a:stretch>
            <a:fillRect/>
          </a:stretch>
        </p:blipFill>
        <p:spPr>
          <a:xfrm>
            <a:off x="1434907" y="820733"/>
            <a:ext cx="9105783" cy="5216534"/>
          </a:xfrm>
          <a:prstGeom prst="rect">
            <a:avLst/>
          </a:prstGeom>
        </p:spPr>
      </p:pic>
    </p:spTree>
    <p:extLst>
      <p:ext uri="{BB962C8B-B14F-4D97-AF65-F5344CB8AC3E}">
        <p14:creationId xmlns:p14="http://schemas.microsoft.com/office/powerpoint/2010/main" val="17635608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DE2D8-251B-B10B-F447-5D1B22444C4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E1289D4-5E2C-8FFC-F54A-C5FE012EC39D}"/>
              </a:ext>
            </a:extLst>
          </p:cNvPr>
          <p:cNvPicPr>
            <a:picLocks noChangeAspect="1"/>
          </p:cNvPicPr>
          <p:nvPr/>
        </p:nvPicPr>
        <p:blipFill>
          <a:blip r:embed="rId2"/>
          <a:stretch>
            <a:fillRect/>
          </a:stretch>
        </p:blipFill>
        <p:spPr>
          <a:xfrm>
            <a:off x="1474236" y="937800"/>
            <a:ext cx="8935002" cy="4982400"/>
          </a:xfrm>
          <a:prstGeom prst="rect">
            <a:avLst/>
          </a:prstGeom>
        </p:spPr>
      </p:pic>
    </p:spTree>
    <p:extLst>
      <p:ext uri="{BB962C8B-B14F-4D97-AF65-F5344CB8AC3E}">
        <p14:creationId xmlns:p14="http://schemas.microsoft.com/office/powerpoint/2010/main" val="30668131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9A9FB-81D8-0B18-8055-2B24CB0D5A4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2EB9FC1-F1DF-5216-5DA0-44E3B3AE520A}"/>
              </a:ext>
            </a:extLst>
          </p:cNvPr>
          <p:cNvPicPr>
            <a:picLocks noChangeAspect="1"/>
          </p:cNvPicPr>
          <p:nvPr/>
        </p:nvPicPr>
        <p:blipFill>
          <a:blip r:embed="rId2"/>
          <a:stretch>
            <a:fillRect/>
          </a:stretch>
        </p:blipFill>
        <p:spPr>
          <a:xfrm>
            <a:off x="1339468" y="553467"/>
            <a:ext cx="8650105" cy="5294185"/>
          </a:xfrm>
          <a:prstGeom prst="rect">
            <a:avLst/>
          </a:prstGeom>
        </p:spPr>
      </p:pic>
    </p:spTree>
    <p:extLst>
      <p:ext uri="{BB962C8B-B14F-4D97-AF65-F5344CB8AC3E}">
        <p14:creationId xmlns:p14="http://schemas.microsoft.com/office/powerpoint/2010/main" val="1898268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DC0D6-01BA-4EA2-132E-9493EE62520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8D0788C-3890-4FE6-AD81-9BCBA72A5830}"/>
              </a:ext>
            </a:extLst>
          </p:cNvPr>
          <p:cNvPicPr>
            <a:picLocks noChangeAspect="1"/>
          </p:cNvPicPr>
          <p:nvPr/>
        </p:nvPicPr>
        <p:blipFill>
          <a:blip r:embed="rId2"/>
          <a:stretch>
            <a:fillRect/>
          </a:stretch>
        </p:blipFill>
        <p:spPr>
          <a:xfrm>
            <a:off x="908257" y="629266"/>
            <a:ext cx="8988414" cy="4850890"/>
          </a:xfrm>
          <a:prstGeom prst="rect">
            <a:avLst/>
          </a:prstGeom>
        </p:spPr>
      </p:pic>
    </p:spTree>
    <p:extLst>
      <p:ext uri="{BB962C8B-B14F-4D97-AF65-F5344CB8AC3E}">
        <p14:creationId xmlns:p14="http://schemas.microsoft.com/office/powerpoint/2010/main" val="37842577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06B9E-7FC7-A6B3-A3FE-F65E64B172D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191A628-F741-0882-5AD8-00BCC4CDC55F}"/>
              </a:ext>
            </a:extLst>
          </p:cNvPr>
          <p:cNvPicPr>
            <a:picLocks noChangeAspect="1"/>
          </p:cNvPicPr>
          <p:nvPr/>
        </p:nvPicPr>
        <p:blipFill>
          <a:blip r:embed="rId2"/>
          <a:stretch>
            <a:fillRect/>
          </a:stretch>
        </p:blipFill>
        <p:spPr>
          <a:xfrm>
            <a:off x="693736" y="265471"/>
            <a:ext cx="10594649" cy="6204155"/>
          </a:xfrm>
          <a:prstGeom prst="rect">
            <a:avLst/>
          </a:prstGeom>
        </p:spPr>
      </p:pic>
    </p:spTree>
    <p:extLst>
      <p:ext uri="{BB962C8B-B14F-4D97-AF65-F5344CB8AC3E}">
        <p14:creationId xmlns:p14="http://schemas.microsoft.com/office/powerpoint/2010/main" val="13773224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ED09C-327B-6984-62BA-0E45AAFC00A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F1BB381-721E-AC26-6984-21E09E59D430}"/>
              </a:ext>
            </a:extLst>
          </p:cNvPr>
          <p:cNvPicPr>
            <a:picLocks noChangeAspect="1"/>
          </p:cNvPicPr>
          <p:nvPr/>
        </p:nvPicPr>
        <p:blipFill>
          <a:blip r:embed="rId2"/>
          <a:stretch>
            <a:fillRect/>
          </a:stretch>
        </p:blipFill>
        <p:spPr>
          <a:xfrm>
            <a:off x="1124273" y="629265"/>
            <a:ext cx="9725205" cy="5476567"/>
          </a:xfrm>
          <a:prstGeom prst="rect">
            <a:avLst/>
          </a:prstGeom>
        </p:spPr>
      </p:pic>
    </p:spTree>
    <p:extLst>
      <p:ext uri="{BB962C8B-B14F-4D97-AF65-F5344CB8AC3E}">
        <p14:creationId xmlns:p14="http://schemas.microsoft.com/office/powerpoint/2010/main" val="19010070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8F070-818D-8F91-F1B0-48C73A01D15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A4CAFEE-BC69-34EA-6AC7-66021AFF2844}"/>
              </a:ext>
            </a:extLst>
          </p:cNvPr>
          <p:cNvPicPr>
            <a:picLocks noChangeAspect="1"/>
          </p:cNvPicPr>
          <p:nvPr/>
        </p:nvPicPr>
        <p:blipFill>
          <a:blip r:embed="rId2"/>
          <a:stretch>
            <a:fillRect/>
          </a:stretch>
        </p:blipFill>
        <p:spPr>
          <a:xfrm>
            <a:off x="579281" y="961311"/>
            <a:ext cx="10855599" cy="5262508"/>
          </a:xfrm>
          <a:prstGeom prst="rect">
            <a:avLst/>
          </a:prstGeom>
        </p:spPr>
      </p:pic>
    </p:spTree>
    <p:extLst>
      <p:ext uri="{BB962C8B-B14F-4D97-AF65-F5344CB8AC3E}">
        <p14:creationId xmlns:p14="http://schemas.microsoft.com/office/powerpoint/2010/main" val="1572077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1109</Words>
  <Application>Microsoft Office PowerPoint</Application>
  <PresentationFormat>Widescreen</PresentationFormat>
  <Paragraphs>135</Paragraphs>
  <Slides>66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66</vt:i4>
      </vt:variant>
    </vt:vector>
  </HeadingPairs>
  <TitlesOfParts>
    <vt:vector size="70" baseType="lpstr">
      <vt:lpstr>Arial</vt:lpstr>
      <vt:lpstr>Calibri</vt:lpstr>
      <vt:lpstr>Calibri Light</vt:lpstr>
      <vt:lpstr>Office Theme</vt:lpstr>
      <vt:lpstr>PowerPoint Presentation</vt:lpstr>
      <vt:lpstr>Structured vs Unstructured Data and the Need for Vector Databases</vt:lpstr>
      <vt:lpstr>Structured Data</vt:lpstr>
      <vt:lpstr>Limitations of Structured Databases</vt:lpstr>
      <vt:lpstr>Unstructured Data</vt:lpstr>
      <vt:lpstr>Limitations of Non-Structured Databases</vt:lpstr>
      <vt:lpstr>Why We Need Vector Databases</vt:lpstr>
      <vt:lpstr>How Vector Databases Work</vt:lpstr>
      <vt:lpstr>Example: Qdrant Vector Search (Python)</vt:lpstr>
      <vt:lpstr>Semantic Search Flow</vt:lpstr>
      <vt:lpstr>Real-World Applications of Vector Databases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Vector Search Methods</vt:lpstr>
      <vt:lpstr>How ChatGPT Understands a Query</vt:lpstr>
      <vt:lpstr>Overview</vt:lpstr>
      <vt:lpstr>Step-by-Step: How ChatGPT Processes a Query</vt:lpstr>
      <vt:lpstr>ChatGPT vs Vector Database</vt:lpstr>
      <vt:lpstr>Vectors vs Vector Database</vt:lpstr>
      <vt:lpstr>Visual Flow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Patel</dc:creator>
  <cp:lastModifiedBy>Nikhil Patel</cp:lastModifiedBy>
  <cp:revision>49</cp:revision>
  <dcterms:created xsi:type="dcterms:W3CDTF">2025-11-12T11:55:06Z</dcterms:created>
  <dcterms:modified xsi:type="dcterms:W3CDTF">2025-11-27T12:32:53Z</dcterms:modified>
</cp:coreProperties>
</file>